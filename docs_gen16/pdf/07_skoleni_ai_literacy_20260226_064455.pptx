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Vážíme si vašeho času, proto jsme školení zkrátili na nezbytné minimum. Během 45 minut projdeme to nejdůležitější: co umělá inteligence je, jaká pravidla pro ni platí a hlavně – co do ní smíte a nesmíte vkládat.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Zákonná lhůta pro toto školení již uplynula. Nejde jen o byrokracii, nesprávné použití AI může vést k úniku našich firemních dat. Pokud by někdo z vás nahrál klientskou databázi do veřejného ChatGPT, vystavuje firmu likvidačním pokutám a sebe riziku okamžitého rozvázání pracovního poměru.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Umělá inteligence není magie, je to pokročilá statistika. Rozdíl oproti běžnému softwaru je v tom, že AI dokáže tvořit nový obsah. Často si ani neuvědomujeme, kolikrát denně s AI přijdeme do styku, a právě proto Evropská unie přistoupila k její regulaci.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Act se týká každé firmy, která AI vyvíjí, ale i té, která ji pouze používá. My jsme v roli uživatelů. Aktuálně se nacházíme v přechodném období, ale klíčové povinnosti, jako je toto školení a zákaz určitých praktik, už platí.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Zákon funguje na principu pyramidy rizik. Čím větší dopad má AI na životy lidí, tím přísnější jsou pravidla. Většina běžných firemních nástrojů spadá do omezeného nebo minimálního rizika.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Tyto praktiky jsou v Evropské unii absolutně nelegální. Zvláštní pozor si musíme dát na jakékoli systémy, které by se snažily analyzovat emoce zaměstnanců nebo uchazečů o zaměstnání – to je nyní trestné a hrozí za to ty nejvyšší možné pokuty.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Často se ptáte, co dělat, když žádné AI systémy nemáme. Odpověď je jednoduchá: nesmíte je tajně používat. Pokud zjistíte, že by vám ChatGPT ušetřil hodinu práce denně, je to skvělé, ale musíte si jeho použití nechat nejprve oficiálně schválit. Odpovědnost za schvalování nese vedení firmy.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Tento slide vám pouze ukazuje, jak bude náš registr vypadat v budoucnu. Každý systém musí mít určenou kategorii rizika, protože ta nám diktuje, jaké právní povinnosti musíme plnit.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Toto je největší praktické riziko při každodenní práci. Umělá inteligence neumí říct „nevím“. Místo toho si vymyslí odpověď, která zní naprosto profesionálně a logicky. Nikdy nesmíte slepě zkopírovat text z AI a poslat ho dál bez přečtení.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Těchto pět pravidel je naprostý základ naší firemní bezpečnosti. Pokud si z dnešního školení odnesete jen jednu věc, ať je to tento slide. Cokoliv vložíte do bezplatného ChatGPT, může být použito pro trénink a může uniknout ke konkurenci.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Představte si veřejnou AI jako nástěnku na náměstí. Co byste nedali na veřejnou nástěnku, to nesmíte napsat do promptu v AI. Pokud potřebujete analyzovat data, musíte je nejprve anonymizovat – smazat jména a identifikátory.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GDPR a AI Act jdou ruku v ruce. Zatímco AI Act řeší bezpečnost samotné technologie, GDPR chrání data lidí. Protože aktuálně osobní data přes AI nezpracováváme, jsme v bezpečí, ale musíme tento stav udržet.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Pokud si všimnete, že se AI chová divně, generuje nesmysly nebo odhaluje citlivá data, nesnažte se to vyřešit sami. Udělejte snímek obrazovky, přestaňte nástroj používat a okamžitě to nahlaste.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Tento slide jasně odděluje, co se čeká od vás jako uživatelů a co musí řešit vedení firmy. Vedení nese odpovědnost za to, že nakoupený software splňuje legislativu. Vy nesete odpovědnost za to, že do něj nevložíte data, která tam nepatří.</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Blížíme se k závěru. Pamatujte si hlavně to, že AI je skvělý sluha, ale zlý pán. Používejte selský rozum. Nyní prosím všechny o podpis prezenční listiny, abychom měli pro případnou kontrolu úřadů doloženo, že jsme zákonnou povinnost splnili. Máte k probíraným tématům nějaké dotazy?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371600"/>
            <a:ext cx="8229600" cy="914400"/>
          </a:xfrm>
          <a:prstGeom prst="rect">
            <a:avLst/>
          </a:prstGeom>
          <a:noFill/>
        </p:spPr>
        <p:txBody>
          <a:bodyPr wrap="square">
            <a:spAutoFit/>
          </a:bodyPr>
          <a:lstStyle/>
          <a:p>
            <a:pPr algn="ctr">
              <a:defRPr sz="4800" b="1">
                <a:solidFill>
                  <a:srgbClr val="E879F9"/>
                </a:solidFill>
                <a:latin typeface="Calibri"/>
              </a:defRPr>
            </a:pPr>
            <a:r>
              <a:t>AIshield.cz</a:t>
            </a:r>
          </a:p>
        </p:txBody>
      </p:sp>
      <p:sp>
        <p:nvSpPr>
          <p:cNvPr id="3" name="Rectangle 2"/>
          <p:cNvSpPr/>
          <p:nvPr/>
        </p:nvSpPr>
        <p:spPr>
          <a:xfrm>
            <a:off x="4572000" y="2468880"/>
            <a:ext cx="27432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743200"/>
            <a:ext cx="9144000" cy="914400"/>
          </a:xfrm>
          <a:prstGeom prst="rect">
            <a:avLst/>
          </a:prstGeom>
          <a:noFill/>
        </p:spPr>
        <p:txBody>
          <a:bodyPr wrap="square">
            <a:spAutoFit/>
          </a:bodyPr>
          <a:lstStyle/>
          <a:p>
            <a:pPr algn="ctr">
              <a:defRPr sz="3200" b="1">
                <a:solidFill>
                  <a:srgbClr val="F1F5F9"/>
                </a:solidFill>
                <a:latin typeface="Calibri"/>
              </a:defRPr>
            </a:pPr>
            <a:r>
              <a:t>Školení AI Literacy — Neznámá firma</a:t>
            </a:r>
          </a:p>
        </p:txBody>
      </p:sp>
      <p:sp>
        <p:nvSpPr>
          <p:cNvPr id="5" name="TextBox 4"/>
          <p:cNvSpPr txBox="1"/>
          <p:nvPr/>
        </p:nvSpPr>
        <p:spPr>
          <a:xfrm>
            <a:off x="1828800" y="3840480"/>
            <a:ext cx="8229600" cy="548640"/>
          </a:xfrm>
          <a:prstGeom prst="rect">
            <a:avLst/>
          </a:prstGeom>
          <a:noFill/>
        </p:spPr>
        <p:txBody>
          <a:bodyPr wrap="square">
            <a:spAutoFit/>
          </a:bodyPr>
          <a:lstStyle/>
          <a:p>
            <a:pPr algn="ctr">
              <a:defRPr sz="1600" b="0">
                <a:solidFill>
                  <a:srgbClr val="94A3B8"/>
                </a:solidFill>
                <a:latin typeface="Calibri"/>
              </a:defRPr>
            </a:pPr>
            <a:r>
              <a:t>Povinné školení dle čl. 4 Nařízení (EU) 2024/1689 (AI Act)  •  Určeno pro: Všechny zaměstnance (Základní modul)  •  Délka školení: 45 minut</a:t>
            </a:r>
          </a:p>
        </p:txBody>
      </p:sp>
      <p:sp>
        <p:nvSpPr>
          <p:cNvPr id="6" name="TextBox 5"/>
          <p:cNvSpPr txBox="1"/>
          <p:nvPr/>
        </p:nvSpPr>
        <p:spPr>
          <a:xfrm>
            <a:off x="1828800" y="5029200"/>
            <a:ext cx="8229600" cy="457200"/>
          </a:xfrm>
          <a:prstGeom prst="rect">
            <a:avLst/>
          </a:prstGeom>
          <a:noFill/>
        </p:spPr>
        <p:txBody>
          <a:bodyPr wrap="square">
            <a:spAutoFit/>
          </a:bodyPr>
          <a:lstStyle/>
          <a:p>
            <a:pPr algn="ctr">
              <a:defRPr sz="1200" b="0">
                <a:solidFill>
                  <a:srgbClr val="94A3B8"/>
                </a:solidFill>
                <a:latin typeface="Calibri"/>
              </a:defRPr>
            </a:pPr>
            <a:r>
              <a:t>Vygenerováno: 26. 02. 2026  •  Rozsah: 2–3 hodiny  •  Cílová skupina: Všichni zaměstnanci</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Agenda školení</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Úvod: Co je AI a proč to řešíme (10 min)</a:t>
            </a:r>
          </a:p>
          <a:p>
            <a:pPr>
              <a:spcAft>
                <a:spcPts val="800"/>
              </a:spcAft>
              <a:defRPr sz="1800">
                <a:solidFill>
                  <a:srgbClr val="F1F5F9"/>
                </a:solidFill>
                <a:latin typeface="Calibri"/>
              </a:defRPr>
            </a:pPr>
            <a:r>
              <a:t>• Pravidla hry: EU AI Act a naše firma (10 min)</a:t>
            </a:r>
          </a:p>
          <a:p>
            <a:pPr>
              <a:spcAft>
                <a:spcPts val="800"/>
              </a:spcAft>
              <a:defRPr sz="1800">
                <a:solidFill>
                  <a:srgbClr val="F1F5F9"/>
                </a:solidFill>
                <a:latin typeface="Calibri"/>
              </a:defRPr>
            </a:pPr>
            <a:r>
              <a:t>• Praxe: Bezpečné používání a co do AI nepatří (15 min)</a:t>
            </a:r>
          </a:p>
          <a:p>
            <a:pPr>
              <a:spcAft>
                <a:spcPts val="800"/>
              </a:spcAft>
              <a:defRPr sz="1800">
                <a:solidFill>
                  <a:srgbClr val="F1F5F9"/>
                </a:solidFill>
                <a:latin typeface="Calibri"/>
              </a:defRPr>
            </a:pPr>
            <a:r>
              <a:t>• Procesy: Schvalování nástrojů a hlášení incidentů (5 min)</a:t>
            </a:r>
          </a:p>
          <a:p>
            <a:pPr>
              <a:spcAft>
                <a:spcPts val="800"/>
              </a:spcAft>
              <a:defRPr sz="1800">
                <a:solidFill>
                  <a:srgbClr val="F1F5F9"/>
                </a:solidFill>
                <a:latin typeface="Calibri"/>
              </a:defRPr>
            </a:pPr>
            <a:r>
              <a:t>• Shrnutí a dotazy (5 min)</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Proč jsme tady</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AI gramotnost je ZÁKONNÁ POVINNOST (čl. 4 AI Act).</a:t>
            </a:r>
          </a:p>
          <a:p>
            <a:pPr>
              <a:spcAft>
                <a:spcPts val="800"/>
              </a:spcAft>
              <a:defRPr sz="1800">
                <a:solidFill>
                  <a:srgbClr val="F1F5F9"/>
                </a:solidFill>
                <a:latin typeface="Calibri"/>
              </a:defRPr>
            </a:pPr>
            <a:r>
              <a:t>• Zákonný termín pro splnění vypršel 2. února 2025 — tímto školením zajišťujeme nezbytný soulad.</a:t>
            </a:r>
          </a:p>
          <a:p>
            <a:pPr>
              <a:spcAft>
                <a:spcPts val="800"/>
              </a:spcAft>
              <a:defRPr sz="1800">
                <a:solidFill>
                  <a:srgbClr val="F1F5F9"/>
                </a:solidFill>
                <a:latin typeface="Calibri"/>
              </a:defRPr>
            </a:pPr>
            <a:r>
              <a:t>• I když aktuálně nemáme oficiálně nasazené AI systémy, musíme znát pravidla pro případné využití veřejných nástrojů (tzv. Shadow IT).</a:t>
            </a:r>
          </a:p>
          <a:p>
            <a:pPr>
              <a:spcAft>
                <a:spcPts val="800"/>
              </a:spcAft>
              <a:defRPr sz="1800">
                <a:solidFill>
                  <a:srgbClr val="F1F5F9"/>
                </a:solidFill>
                <a:latin typeface="Calibri"/>
              </a:defRPr>
            </a:pPr>
            <a:r>
              <a:t>• Sankce pro firmu: Za porušení povinností (včetně AI gramotnosti) hrozí pokuty dle čl. 99 odst. 4 až 15 mil. EUR nebo 3 % obratu. Za zakázané praktiky až 35 mil. EUR.</a:t>
            </a:r>
          </a:p>
          <a:p>
            <a:pPr>
              <a:spcAft>
                <a:spcPts val="800"/>
              </a:spcAft>
              <a:defRPr sz="1800">
                <a:solidFill>
                  <a:srgbClr val="F1F5F9"/>
                </a:solidFill>
                <a:latin typeface="Calibri"/>
              </a:defRPr>
            </a:pPr>
            <a:r>
              <a:t>• Důsledky pro zaměstnance: Neoprávněné vložení citlivých dat do veřejné AI je považováno za závažné porušení pracovních povinností s pracovněprávními důsledky.</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Co je umělá inteligence a kde se s ní setkáme</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AI = systém, který generuje výstupy (text, obraz, rozhodnutí) na základě vstupních dat a funguje s určitou mírou autonomie (čl. 3 odst. 1).</a:t>
            </a:r>
          </a:p>
          <a:p>
            <a:pPr>
              <a:spcAft>
                <a:spcPts val="800"/>
              </a:spcAft>
              <a:defRPr sz="1800">
                <a:solidFill>
                  <a:srgbClr val="F1F5F9"/>
                </a:solidFill>
                <a:latin typeface="Calibri"/>
              </a:defRPr>
            </a:pPr>
            <a:r>
              <a:t>• AI se dokáže adaptovat a vyvozovat závěry z dat, běžná automatizace pouze plní pevně daná pravidla.</a:t>
            </a:r>
          </a:p>
          <a:p>
            <a:pPr>
              <a:spcAft>
                <a:spcPts val="800"/>
              </a:spcAft>
              <a:defRPr sz="1800">
                <a:solidFill>
                  <a:srgbClr val="F1F5F9"/>
                </a:solidFill>
                <a:latin typeface="Calibri"/>
              </a:defRPr>
            </a:pPr>
            <a:r>
              <a:t>• Běžný život: Vyhledávače, doporučování na Netflixu, GPS navigace, spam filtry.</a:t>
            </a:r>
          </a:p>
          <a:p>
            <a:pPr>
              <a:spcAft>
                <a:spcPts val="800"/>
              </a:spcAft>
              <a:defRPr sz="1800">
                <a:solidFill>
                  <a:srgbClr val="F1F5F9"/>
                </a:solidFill>
                <a:latin typeface="Calibri"/>
              </a:defRPr>
            </a:pPr>
            <a:r>
              <a:t>• Administrativa: Automatické vytěžování dat z přijatých faktur.</a:t>
            </a:r>
          </a:p>
          <a:p>
            <a:pPr>
              <a:spcAft>
                <a:spcPts val="800"/>
              </a:spcAft>
              <a:defRPr sz="1800">
                <a:solidFill>
                  <a:srgbClr val="F1F5F9"/>
                </a:solidFill>
                <a:latin typeface="Calibri"/>
              </a:defRPr>
            </a:pPr>
            <a:r>
              <a:t>• Obchod: Generování návrhů e-mailů pro klienty nebo překlady smluv (DeepL).</a:t>
            </a:r>
          </a:p>
          <a:p>
            <a:pPr>
              <a:spcAft>
                <a:spcPts val="800"/>
              </a:spcAft>
              <a:defRPr sz="1800">
                <a:solidFill>
                  <a:srgbClr val="F1F5F9"/>
                </a:solidFill>
                <a:latin typeface="Calibri"/>
              </a:defRPr>
            </a:pPr>
            <a:r>
              <a:t>• HR: Třídění životopisů uchazečů (pozor, toto je vysoce rizikové!).</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EU AI Act v kostce</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Nařízení (EU) 2024/1689 — první komplexní zákon o umělé inteligenci na světě.</a:t>
            </a:r>
          </a:p>
          <a:p>
            <a:pPr>
              <a:spcAft>
                <a:spcPts val="800"/>
              </a:spcAft>
              <a:defRPr sz="1800">
                <a:solidFill>
                  <a:srgbClr val="F1F5F9"/>
                </a:solidFill>
                <a:latin typeface="Calibri"/>
              </a:defRPr>
            </a:pPr>
            <a:r>
              <a:t>• Cíl: zajistit bezpečné a důvěryhodné AI systémy chránící základní práva.</a:t>
            </a:r>
          </a:p>
          <a:p>
            <a:pPr>
              <a:spcAft>
                <a:spcPts val="800"/>
              </a:spcAft>
              <a:defRPr sz="1800">
                <a:solidFill>
                  <a:srgbClr val="F1F5F9"/>
                </a:solidFill>
                <a:latin typeface="Calibri"/>
              </a:defRPr>
            </a:pPr>
            <a:r>
              <a:t>• Zakázané praktiky (čl. 5) a AI gramotnost (čl. 4): v účinnosti od 2. 2. 2025.</a:t>
            </a:r>
          </a:p>
          <a:p>
            <a:pPr>
              <a:spcAft>
                <a:spcPts val="800"/>
              </a:spcAft>
              <a:defRPr sz="1800">
                <a:solidFill>
                  <a:srgbClr val="F1F5F9"/>
                </a:solidFill>
                <a:latin typeface="Calibri"/>
              </a:defRPr>
            </a:pPr>
            <a:r>
              <a:t>• Modely pro obecné účely / GPAI (čl. 51–54): účinnost od 2. 8. 2025.</a:t>
            </a:r>
          </a:p>
          <a:p>
            <a:pPr>
              <a:spcAft>
                <a:spcPts val="800"/>
              </a:spcAft>
              <a:defRPr sz="1800">
                <a:solidFill>
                  <a:srgbClr val="F1F5F9"/>
                </a:solidFill>
                <a:latin typeface="Calibri"/>
              </a:defRPr>
            </a:pPr>
            <a:r>
              <a:t>• UPOZORNĚNÍ: Plná účinnost pro většinu systémů nastane 2. 8. 2026. Do té doby musíme mít všechny procesy plně nastavené.</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4 kategorie rizik AI Act</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NEPŘIJATELNÉ RIZIKO — zcela zakázáno (social scoring, manipulace).</a:t>
            </a:r>
          </a:p>
          <a:p>
            <a:pPr>
              <a:spcAft>
                <a:spcPts val="800"/>
              </a:spcAft>
              <a:defRPr sz="1800">
                <a:solidFill>
                  <a:srgbClr val="F1F5F9"/>
                </a:solidFill>
                <a:latin typeface="Calibri"/>
              </a:defRPr>
            </a:pPr>
            <a:r>
              <a:t>• VYSOKÉ RIZIKO — přísné povinnosti, registrace, posouzení dopadů (HR systémy, zdravotnictví, biometrie).</a:t>
            </a:r>
          </a:p>
          <a:p>
            <a:pPr>
              <a:spcAft>
                <a:spcPts val="800"/>
              </a:spcAft>
              <a:defRPr sz="1800">
                <a:solidFill>
                  <a:srgbClr val="F1F5F9"/>
                </a:solidFill>
                <a:latin typeface="Calibri"/>
              </a:defRPr>
            </a:pPr>
            <a:r>
              <a:t>• OMEZENÉ RIZIKO — povinnost transparentnosti (chatboty, generovaný obsah, deepfakes).</a:t>
            </a:r>
          </a:p>
          <a:p>
            <a:pPr>
              <a:spcAft>
                <a:spcPts val="800"/>
              </a:spcAft>
              <a:defRPr sz="1800">
                <a:solidFill>
                  <a:srgbClr val="F1F5F9"/>
                </a:solidFill>
                <a:latin typeface="Calibri"/>
              </a:defRPr>
            </a:pPr>
            <a:r>
              <a:t>• MINIMÁLNÍ RIZIKO — bez zvláštních zákonných povinností (spam filtry, běžné algoritmy).</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Zakázané AI praktiky (čl. 5)</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Social scoring — plošné hodnocení lidí podle jejich sociálního chování.</a:t>
            </a:r>
          </a:p>
          <a:p>
            <a:pPr>
              <a:spcAft>
                <a:spcPts val="800"/>
              </a:spcAft>
              <a:defRPr sz="1800">
                <a:solidFill>
                  <a:srgbClr val="F1F5F9"/>
                </a:solidFill>
                <a:latin typeface="Calibri"/>
              </a:defRPr>
            </a:pPr>
            <a:r>
              <a:t>• Manipulativní AI — podprahové ovlivňování rozhodnutí s cílem způsobit újmu.</a:t>
            </a:r>
          </a:p>
          <a:p>
            <a:pPr>
              <a:spcAft>
                <a:spcPts val="800"/>
              </a:spcAft>
              <a:defRPr sz="1800">
                <a:solidFill>
                  <a:srgbClr val="F1F5F9"/>
                </a:solidFill>
                <a:latin typeface="Calibri"/>
              </a:defRPr>
            </a:pPr>
            <a:r>
              <a:t>• Biometrická identifikace v reálném čase na veřejně přístupných místech.</a:t>
            </a:r>
          </a:p>
          <a:p>
            <a:pPr>
              <a:spcAft>
                <a:spcPts val="800"/>
              </a:spcAft>
              <a:defRPr sz="1800">
                <a:solidFill>
                  <a:srgbClr val="F1F5F9"/>
                </a:solidFill>
                <a:latin typeface="Calibri"/>
              </a:defRPr>
            </a:pPr>
            <a:r>
              <a:t>• Prediktivní policing výhradně na základě profilování osob.</a:t>
            </a:r>
          </a:p>
          <a:p>
            <a:pPr>
              <a:spcAft>
                <a:spcPts val="800"/>
              </a:spcAft>
              <a:defRPr sz="1800">
                <a:solidFill>
                  <a:srgbClr val="F1F5F9"/>
                </a:solidFill>
                <a:latin typeface="Calibri"/>
              </a:defRPr>
            </a:pPr>
            <a:r>
              <a:t>• Rozpoznávání emocí na pracovišti nebo ve vzdělávacích institucích.</a:t>
            </a:r>
          </a:p>
          <a:p>
            <a:pPr>
              <a:spcAft>
                <a:spcPts val="800"/>
              </a:spcAft>
              <a:defRPr sz="1800">
                <a:solidFill>
                  <a:srgbClr val="F1F5F9"/>
                </a:solidFill>
                <a:latin typeface="Calibri"/>
              </a:defRPr>
            </a:pPr>
            <a:r>
              <a:t>• Plošné stahování (scraping) obličejů z internetu pro tvorbu databází.</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AI v naší firmě a pravidla pro Shadow IT</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Aktuální stav: Naše firma aktuálně nemá schválený a nasazený ŽÁDNÝ AI systém.</a:t>
            </a:r>
          </a:p>
          <a:p>
            <a:pPr>
              <a:spcAft>
                <a:spcPts val="800"/>
              </a:spcAft>
              <a:defRPr sz="1800">
                <a:solidFill>
                  <a:srgbClr val="F1F5F9"/>
                </a:solidFill>
                <a:latin typeface="Calibri"/>
              </a:defRPr>
            </a:pPr>
            <a:r>
              <a:t>• Odpovědná osoba za AI: Jednatel společnosti / Pověřený provozní manažer.</a:t>
            </a:r>
          </a:p>
          <a:p>
            <a:pPr>
              <a:spcAft>
                <a:spcPts val="800"/>
              </a:spcAft>
              <a:defRPr sz="1800">
                <a:solidFill>
                  <a:srgbClr val="F1F5F9"/>
                </a:solidFill>
                <a:latin typeface="Calibri"/>
              </a:defRPr>
            </a:pPr>
            <a:r>
              <a:t>• Riziko Shadow IT: Používání veřejných nástrojů (ChatGPT, Claude) na vlastní pěst pro pracovní účely je bez schválení zakázáno.</a:t>
            </a:r>
          </a:p>
          <a:p>
            <a:pPr>
              <a:spcAft>
                <a:spcPts val="800"/>
              </a:spcAft>
              <a:defRPr sz="1800">
                <a:solidFill>
                  <a:srgbClr val="F1F5F9"/>
                </a:solidFill>
                <a:latin typeface="Calibri"/>
              </a:defRPr>
            </a:pPr>
            <a:r>
              <a:t>• Vyplníte krátký interní požadavek na odpovědnou osobu.</a:t>
            </a:r>
          </a:p>
          <a:p>
            <a:pPr>
              <a:spcAft>
                <a:spcPts val="800"/>
              </a:spcAft>
              <a:defRPr sz="1800">
                <a:solidFill>
                  <a:srgbClr val="F1F5F9"/>
                </a:solidFill>
                <a:latin typeface="Calibri"/>
              </a:defRPr>
            </a:pPr>
            <a:r>
              <a:t>• Odpovědná osoba nástroj posoudí (bezpečnost, riziko dle AI Act).</a:t>
            </a:r>
          </a:p>
          <a:p>
            <a:pPr>
              <a:spcAft>
                <a:spcPts val="800"/>
              </a:spcAft>
              <a:defRPr sz="1800">
                <a:solidFill>
                  <a:srgbClr val="F1F5F9"/>
                </a:solidFill>
                <a:latin typeface="Calibri"/>
              </a:defRPr>
            </a:pPr>
            <a:r>
              <a:t>• Teprve po výslovném schválení a zápisu do Registru AI smíte nástroj používat.</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Jak bude vypadat náš Registr AI (Ukázka)</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Až schválíme první nástroje, budou zapsány do interního registru. Zde je ukázka, jak to bude vypadat:</a:t>
            </a:r>
          </a:p>
          <a:p>
            <a:pPr>
              <a:spcAft>
                <a:spcPts val="800"/>
              </a:spcAft>
              <a:defRPr sz="1800">
                <a:solidFill>
                  <a:srgbClr val="F1F5F9"/>
                </a:solidFill>
                <a:latin typeface="Calibri"/>
              </a:defRPr>
            </a:pPr>
            <a:r>
              <a:t>• Poznámka: Omezené riziko znamená, že musíme uživatele informovat, že komunikují s AI (čl. 50).</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Co je automation bias (zkreslení z automatizace)</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Automation bias = nebezpečná tendence nekriticky důvěřovat výstupům počítače a ignorovat vlastní úsudek.</a:t>
            </a:r>
          </a:p>
          <a:p>
            <a:pPr>
              <a:spcAft>
                <a:spcPts val="800"/>
              </a:spcAft>
              <a:defRPr sz="1800">
                <a:solidFill>
                  <a:srgbClr val="F1F5F9"/>
                </a:solidFill>
                <a:latin typeface="Calibri"/>
              </a:defRPr>
            </a:pPr>
            <a:r>
              <a:t>• AI HALUCINUJE — generuje velmi přesvědčivé, ale zcela nepravdivé informace.</a:t>
            </a:r>
          </a:p>
          <a:p>
            <a:pPr>
              <a:spcAft>
                <a:spcPts val="800"/>
              </a:spcAft>
              <a:defRPr sz="1800">
                <a:solidFill>
                  <a:srgbClr val="F1F5F9"/>
                </a:solidFill>
                <a:latin typeface="Calibri"/>
              </a:defRPr>
            </a:pPr>
            <a:r>
              <a:t>• Právo: AI si vymyslí neexistující soudní judikát včetně falešné spisové značky.</a:t>
            </a:r>
          </a:p>
          <a:p>
            <a:pPr>
              <a:spcAft>
                <a:spcPts val="800"/>
              </a:spcAft>
              <a:defRPr sz="1800">
                <a:solidFill>
                  <a:srgbClr val="F1F5F9"/>
                </a:solidFill>
                <a:latin typeface="Calibri"/>
              </a:defRPr>
            </a:pPr>
            <a:r>
              <a:t>• Obchod: AI chybně vypočítá slevu v cenové nabídce a my ji bez kontroly odešleme klientovi.</a:t>
            </a:r>
          </a:p>
          <a:p>
            <a:pPr>
              <a:spcAft>
                <a:spcPts val="800"/>
              </a:spcAft>
              <a:defRPr sz="1800">
                <a:solidFill>
                  <a:srgbClr val="F1F5F9"/>
                </a:solidFill>
                <a:latin typeface="Calibri"/>
              </a:defRPr>
            </a:pPr>
            <a:r>
              <a:t>• HR: AI si do shrnutí životopisu vymyslí dovednost, kterou kandidát nemá.</a:t>
            </a:r>
          </a:p>
          <a:p>
            <a:pPr>
              <a:spcAft>
                <a:spcPts val="800"/>
              </a:spcAft>
              <a:defRPr sz="1800">
                <a:solidFill>
                  <a:srgbClr val="F1F5F9"/>
                </a:solidFill>
                <a:latin typeface="Calibri"/>
              </a:defRPr>
            </a:pPr>
            <a:r>
              <a:t>• Pravidlo: VŽDY ověřuj kritické výstupy AI z nezávislého a spolehlivého zdroje.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Bezpečné používání AI v praxi</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PRAVIDLO 1: Nikdy nevkládejte do veřejné AI osobní údaje klientů ani zaměstnanců.</a:t>
            </a:r>
          </a:p>
          <a:p>
            <a:pPr>
              <a:spcAft>
                <a:spcPts val="800"/>
              </a:spcAft>
              <a:defRPr sz="1800">
                <a:solidFill>
                  <a:srgbClr val="F1F5F9"/>
                </a:solidFill>
                <a:latin typeface="Calibri"/>
              </a:defRPr>
            </a:pPr>
            <a:r>
              <a:t>• PRAVIDLO 2: Nikdy nevkládejte hesla, zdrojové kódy, přístupy ani interní smlouvy.</a:t>
            </a:r>
          </a:p>
          <a:p>
            <a:pPr>
              <a:spcAft>
                <a:spcPts val="800"/>
              </a:spcAft>
              <a:defRPr sz="1800">
                <a:solidFill>
                  <a:srgbClr val="F1F5F9"/>
                </a:solidFill>
                <a:latin typeface="Calibri"/>
              </a:defRPr>
            </a:pPr>
            <a:r>
              <a:t>• PRAVIDLO 3: Vždy ověřujte důležité výstupy AI (čísla, fakta, odborné termíny).</a:t>
            </a:r>
          </a:p>
          <a:p>
            <a:pPr>
              <a:spcAft>
                <a:spcPts val="800"/>
              </a:spcAft>
              <a:defRPr sz="1800">
                <a:solidFill>
                  <a:srgbClr val="F1F5F9"/>
                </a:solidFill>
                <a:latin typeface="Calibri"/>
              </a:defRPr>
            </a:pPr>
            <a:r>
              <a:t>• PRAVIDLO 4: Označujte AI-generovaný obsah před jeho sdílením s veřejností.</a:t>
            </a:r>
          </a:p>
          <a:p>
            <a:pPr>
              <a:spcAft>
                <a:spcPts val="800"/>
              </a:spcAft>
              <a:defRPr sz="1800">
                <a:solidFill>
                  <a:srgbClr val="F1F5F9"/>
                </a:solidFill>
                <a:latin typeface="Calibri"/>
              </a:defRPr>
            </a:pPr>
            <a:r>
              <a:t>• PRAVIDLO 5: Při jakýchkoli pochybnostech se zeptejte odpovědné osoby za AI.</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Co do AI NIKDY nevkládat</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Jména, rodná čísla, e-maily nebo adresy klientů a kolegů.</a:t>
            </a:r>
          </a:p>
          <a:p>
            <a:pPr>
              <a:spcAft>
                <a:spcPts val="800"/>
              </a:spcAft>
              <a:defRPr sz="1800">
                <a:solidFill>
                  <a:srgbClr val="F1F5F9"/>
                </a:solidFill>
                <a:latin typeface="Calibri"/>
              </a:defRPr>
            </a:pPr>
            <a:r>
              <a:t>• Finanční údaje — čísla účtů, platební karty, interní rozpočty.</a:t>
            </a:r>
          </a:p>
          <a:p>
            <a:pPr>
              <a:spcAft>
                <a:spcPts val="800"/>
              </a:spcAft>
              <a:defRPr sz="1800">
                <a:solidFill>
                  <a:srgbClr val="F1F5F9"/>
                </a:solidFill>
                <a:latin typeface="Calibri"/>
              </a:defRPr>
            </a:pPr>
            <a:r>
              <a:t>• Hesla, přístupové klíče, API tokeny.</a:t>
            </a:r>
          </a:p>
          <a:p>
            <a:pPr>
              <a:spcAft>
                <a:spcPts val="800"/>
              </a:spcAft>
              <a:defRPr sz="1800">
                <a:solidFill>
                  <a:srgbClr val="F1F5F9"/>
                </a:solidFill>
                <a:latin typeface="Calibri"/>
              </a:defRPr>
            </a:pPr>
            <a:r>
              <a:t>• Interní smlouvy, NDA (dohody o mlčenlivosti), obchodní tajemství.</a:t>
            </a:r>
          </a:p>
          <a:p>
            <a:pPr>
              <a:spcAft>
                <a:spcPts val="800"/>
              </a:spcAft>
              <a:defRPr sz="1800">
                <a:solidFill>
                  <a:srgbClr val="F1F5F9"/>
                </a:solidFill>
                <a:latin typeface="Calibri"/>
              </a:defRPr>
            </a:pPr>
            <a:r>
              <a:t>• Klientské databáze, nepublikované finanční výsledky, zdrojové kódy.</a:t>
            </a:r>
          </a:p>
          <a:p>
            <a:pPr>
              <a:spcAft>
                <a:spcPts val="800"/>
              </a:spcAft>
              <a:defRPr sz="1800">
                <a:solidFill>
                  <a:srgbClr val="F1F5F9"/>
                </a:solidFill>
                <a:latin typeface="Calibri"/>
              </a:defRPr>
            </a:pPr>
            <a:r>
              <a:t>• Důvěrné firemní strategie a plány před jejich zveřejněním.</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AI a ochrana osobních údajů (GDPR)</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Pokud AI zpracovává osobní údaje, platí GDPR souběžně s AI Act.</a:t>
            </a:r>
          </a:p>
          <a:p>
            <a:pPr>
              <a:spcAft>
                <a:spcPts val="800"/>
              </a:spcAft>
              <a:defRPr sz="1800">
                <a:solidFill>
                  <a:srgbClr val="F1F5F9"/>
                </a:solidFill>
                <a:latin typeface="Calibri"/>
              </a:defRPr>
            </a:pPr>
            <a:r>
              <a:t>• Aktuálně naše firma nezpracovává osobní údaje prostřednictvím AI.</a:t>
            </a:r>
          </a:p>
          <a:p>
            <a:pPr>
              <a:spcAft>
                <a:spcPts val="800"/>
              </a:spcAft>
              <a:defRPr sz="1800">
                <a:solidFill>
                  <a:srgbClr val="F1F5F9"/>
                </a:solidFill>
                <a:latin typeface="Calibri"/>
              </a:defRPr>
            </a:pPr>
            <a:r>
              <a:t>• Pokud bychom začali, vyžaduje to jasný právní základ (souhlas, oprávněný zájem).</a:t>
            </a:r>
          </a:p>
          <a:p>
            <a:pPr>
              <a:spcAft>
                <a:spcPts val="800"/>
              </a:spcAft>
              <a:defRPr sz="1800">
                <a:solidFill>
                  <a:srgbClr val="F1F5F9"/>
                </a:solidFill>
                <a:latin typeface="Calibri"/>
              </a:defRPr>
            </a:pPr>
            <a:r>
              <a:t>• Zákazníci mají právo na vysvětlení automatizovaného rozhodnutí (čl. 22 GDPR).</a:t>
            </a:r>
          </a:p>
          <a:p>
            <a:pPr>
              <a:spcAft>
                <a:spcPts val="800"/>
              </a:spcAft>
              <a:defRPr sz="1800">
                <a:solidFill>
                  <a:srgbClr val="F1F5F9"/>
                </a:solidFill>
                <a:latin typeface="Calibri"/>
              </a:defRPr>
            </a:pPr>
            <a:r>
              <a:t>• Platí princip minimalizace dat — do AI vkládejte vždy jen absolutně nezbytné minimum informací.</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Hlášení AI incidentů</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Incident = situace, kdy AI systém způsobil nebo mohl způsobit škodu, porušil práva nebo vygeneroval nebezpečný obsah.</a:t>
            </a:r>
          </a:p>
          <a:p>
            <a:pPr>
              <a:spcAft>
                <a:spcPts val="800"/>
              </a:spcAft>
              <a:defRPr sz="1800">
                <a:solidFill>
                  <a:srgbClr val="F1F5F9"/>
                </a:solidFill>
                <a:latin typeface="Calibri"/>
              </a:defRPr>
            </a:pPr>
            <a:r>
              <a:t>• Příklady: AI vygenerovala diskriminační text, únik firemních dat přes AI prompt.</a:t>
            </a:r>
          </a:p>
          <a:p>
            <a:pPr>
              <a:spcAft>
                <a:spcPts val="800"/>
              </a:spcAft>
              <a:defRPr sz="1800">
                <a:solidFill>
                  <a:srgbClr val="F1F5F9"/>
                </a:solidFill>
                <a:latin typeface="Calibri"/>
              </a:defRPr>
            </a:pPr>
            <a:r>
              <a:t>• Postup pro každého zaměstnance: ZASTAVIT — DOKUMENTOVAT (udělat screenshot) — NAHLÁSIT odpovědné osobě.</a:t>
            </a:r>
          </a:p>
          <a:p>
            <a:pPr>
              <a:spcAft>
                <a:spcPts val="800"/>
              </a:spcAft>
              <a:defRPr sz="1800">
                <a:solidFill>
                  <a:srgbClr val="F1F5F9"/>
                </a:solidFill>
                <a:latin typeface="Calibri"/>
              </a:defRPr>
            </a:pPr>
            <a:r>
              <a:t>• Dle čl. 73 AI Act musíme závažné incidenty nahlásit dozorovému úřadu do 15 dnů.</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Rozdělení rolí a povinností (Management vs. Zaměstnanci)</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Běžní zaměstnanci: Povinnost dodržovat interní pravidla, neinstalovat neschválené AI nástroje (Shadow IT), hlásit incidenty a chránit data.</a:t>
            </a:r>
          </a:p>
          <a:p>
            <a:pPr>
              <a:spcAft>
                <a:spcPts val="800"/>
              </a:spcAft>
              <a:defRPr sz="1800">
                <a:solidFill>
                  <a:srgbClr val="F1F5F9"/>
                </a:solidFill>
                <a:latin typeface="Calibri"/>
              </a:defRPr>
            </a:pPr>
            <a:r>
              <a:t>• Schvalování nástrojů a vedení Registru AI.</a:t>
            </a:r>
          </a:p>
          <a:p>
            <a:pPr>
              <a:spcAft>
                <a:spcPts val="800"/>
              </a:spcAft>
              <a:defRPr sz="1800">
                <a:solidFill>
                  <a:srgbClr val="F1F5F9"/>
                </a:solidFill>
                <a:latin typeface="Calibri"/>
              </a:defRPr>
            </a:pPr>
            <a:r>
              <a:t>• Zajištění transparentnosti (čl. 50) — označování AI obsahu a chatbotů.</a:t>
            </a:r>
          </a:p>
          <a:p>
            <a:pPr>
              <a:spcAft>
                <a:spcPts val="800"/>
              </a:spcAft>
              <a:defRPr sz="1800">
                <a:solidFill>
                  <a:srgbClr val="F1F5F9"/>
                </a:solidFill>
                <a:latin typeface="Calibri"/>
              </a:defRPr>
            </a:pPr>
            <a:r>
              <a:t>• Logování (čl. 19 odst. 1): Povinné uchovávání logů po dobu 6 měsíců platí pouze pro high-risk systémy. Pro naši firmu (minimální riziko) je to doporučená best practice.</a:t>
            </a:r>
          </a:p>
          <a:p>
            <a:pPr>
              <a:spcAft>
                <a:spcPts val="800"/>
              </a:spcAft>
              <a:defRPr sz="1800">
                <a:solidFill>
                  <a:srgbClr val="F1F5F9"/>
                </a:solidFill>
                <a:latin typeface="Calibri"/>
              </a:defRPr>
            </a:pPr>
            <a:r>
              <a:t>• Posouzení dopadů / FRIA (čl. 27): Povinné pro všechny nasazovatele high-risk systémů (veřejný sektor má rozšířené povinnosti). Pro nás aktuálně nerelevantní, ale nutné znát při nákupu nového softwaru.</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Neznámá firma</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Shrnutí a evidence školení</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AI Act platí pro všechny firmy v EU.</a:t>
            </a:r>
          </a:p>
          <a:p>
            <a:pPr>
              <a:spcAft>
                <a:spcPts val="800"/>
              </a:spcAft>
              <a:defRPr sz="1800">
                <a:solidFill>
                  <a:srgbClr val="F1F5F9"/>
                </a:solidFill>
                <a:latin typeface="Calibri"/>
              </a:defRPr>
            </a:pPr>
            <a:r>
              <a:t>• Pamatujte na 5 pravidel bezpečného používání AI a riziko halucinací.</a:t>
            </a:r>
          </a:p>
          <a:p>
            <a:pPr>
              <a:spcAft>
                <a:spcPts val="800"/>
              </a:spcAft>
              <a:defRPr sz="1800">
                <a:solidFill>
                  <a:srgbClr val="F1F5F9"/>
                </a:solidFill>
                <a:latin typeface="Calibri"/>
              </a:defRPr>
            </a:pPr>
            <a:r>
              <a:t>• Nové AI nástroje podléhají schválení vedením.</a:t>
            </a:r>
          </a:p>
          <a:p>
            <a:pPr>
              <a:spcAft>
                <a:spcPts val="800"/>
              </a:spcAft>
              <a:defRPr sz="1800">
                <a:solidFill>
                  <a:srgbClr val="F1F5F9"/>
                </a:solidFill>
                <a:latin typeface="Calibri"/>
              </a:defRPr>
            </a:pPr>
            <a:r>
              <a:t>• Evidence školení: Pro splnění zákonné povinnosti (čl. 4) je nutné podepsat prezenční listinu (nebo potvrdit digitální záznam v HR systému). Evidence je uchovávána na personálním oddělení.</a:t>
            </a:r>
          </a:p>
          <a:p>
            <a:pPr>
              <a:spcAft>
                <a:spcPts val="800"/>
              </a:spcAft>
              <a:defRPr sz="1800">
                <a:solidFill>
                  <a:srgbClr val="F1F5F9"/>
                </a:solidFill>
                <a:latin typeface="Calibri"/>
              </a:defRPr>
            </a:pPr>
            <a:r>
              <a:t>• Frekvence: Školení se opakuje minimálně 1× ročně, případně mimořádně při nasazení nového AI systému, změně legislativy nebo bezpečnostním incidentu.</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Neznámá firma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371600"/>
            <a:ext cx="8229600" cy="914400"/>
          </a:xfrm>
          <a:prstGeom prst="rect">
            <a:avLst/>
          </a:prstGeom>
          <a:noFill/>
        </p:spPr>
        <p:txBody>
          <a:bodyPr wrap="square">
            <a:spAutoFit/>
          </a:bodyPr>
          <a:lstStyle/>
          <a:p>
            <a:pPr algn="ctr">
              <a:defRPr sz="3600" b="1">
                <a:solidFill>
                  <a:srgbClr val="E879F9"/>
                </a:solidFill>
                <a:latin typeface="Calibri"/>
              </a:defRPr>
            </a:pPr>
            <a:r>
              <a:t>AIshield.cz</a:t>
            </a:r>
          </a:p>
        </p:txBody>
      </p:sp>
      <p:sp>
        <p:nvSpPr>
          <p:cNvPr id="3" name="TextBox 2"/>
          <p:cNvSpPr txBox="1"/>
          <p:nvPr/>
        </p:nvSpPr>
        <p:spPr>
          <a:xfrm>
            <a:off x="1371600" y="2743200"/>
            <a:ext cx="9144000" cy="2286000"/>
          </a:xfrm>
          <a:prstGeom prst="rect">
            <a:avLst/>
          </a:prstGeom>
          <a:noFill/>
        </p:spPr>
        <p:txBody>
          <a:bodyPr wrap="square">
            <a:spAutoFit/>
          </a:bodyPr>
          <a:lstStyle/>
          <a:p>
            <a:pPr algn="ctr">
              <a:defRPr sz="1400" b="0">
                <a:solidFill>
                  <a:srgbClr val="94A3B8"/>
                </a:solidFill>
                <a:latin typeface="Calibri"/>
              </a:defRPr>
            </a:pPr>
            <a:r>
              <a:t>Dokumenty vygenerované platformou AIshield.cz jsou vytvořeny na základě automatizované analýzy a informací poskytnutých klientem.</a:t>
            </a:r>
            <a:br/>
            <a:br/>
            <a:r>
              <a:t>AIshield.cz poskytuje compliance dokumentaci jako technickou pomůcku pro splnění požadavků Nařízení (EU) 2024/1689 (AI Act), nikoliv jako právní poradenství ve smyslu zák. č. 85/1996 Sb.</a:t>
            </a:r>
            <a:br/>
            <a:br/>
            <a:r>
              <a:t>info@aishield.cz  •  +420 732 716 141  •  Martin Haynes, IČO: 17889251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