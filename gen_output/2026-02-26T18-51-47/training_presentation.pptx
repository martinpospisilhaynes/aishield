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Celkový čas je přibližně dvě hodiny včetně přestávky po třetím modulu. Dotazy pokládejte průběžně nebo na konci každého modulu. Materiály z tohoto školení jsou součástí AI Act Compliance Kitu. Školení je koncipováno pro všechny zaměstnance — vedení a IT oddělení obdrží navíc doplňkový materiál s technickými detaily.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Povinnost AI gramotnosti platí od února 2025 a my ji plníme nyní. Naše firma má velmi vysoký rizikový profil, protože působíme v mnoha regulovaných odvětvích a používáme AI systémy, které přímo ovlivňují rozhodnutí o lidech. To znamená, že na nás dohlíží regulátoři přísněji. Toto školení je první krok ke splnění zákonné povinnosti.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není nic vzdáleného — každý ji denně používá. Zeptejte se účastníků, které AI nástroje sami používají. Vysvětlete rozdíl na příkladu Freshdesk AI vs. klasický autoresponder. Právě schopnost přizpůsobení je to, co AI Act reguluje. Pro zaměstnance z e-shopu: doporučovací systém na webu je AI. Pro zaměstnance z dopravy: optimalizace tras je AI. Pro zaměstnance z gastronomie: predikce poptávky je 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Zdůrazněte časovou osu — část povinností již platí. Do plné účinnosti pro high-risk systémy zbývá pouhých pět měsíců. Vysvětlete pyramidu rizik: čím vyšší riziko, tím přísnější povinnosti. Naše firma má systémy ve všech kategoriích, včetně systémů na hranici zakázaných praktik. Pokuty: až 35 mil. EUR / 7 % obratu za zakázané praktiky; 15 mil. EUR / 3 % za ostatní porušení.</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Toto je nejkritičtější část školení. Systémy „vlastní html" a „vlastní kód" jsou předmětem okamžitého právního auditu. Zaměstnanci, kteří s nimi pracují, nesmí pokračovat bez výslovného pokynu Martina Haynese. Zdůrazněte, že zakázané praktiky platí již od února 2025 — nejde o budoucí povinnost.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Každý zaměstnanec by měl vědět, které systémy se týkají jeho práce. Registr AI systémů je k dispozici u Martina Haynese. Nikdy nezačínejte používat nový AI nástroj bez předchozího schválení — vyplňte „Žádost o schválení AI nástroje" v interním systému.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Projděte tabulku a vysvětlete, proč má každý systém danou kategorii. Systémy označené jako „ZAKÁZÁNO?" jsou předmětem právního přezkoumání — zaměstnanci s nimi nesmí pracovat bez výslovného pokynu Martina Haynese. Pro zaměstnance z e-shopu zdůrazněte dynamické ceny a zákaznickou podporu. Pro zaměstnance z HR zdůrazněte náborové nástroje a monitoring. Pro zaměstnance z účetnictví zdůrazněte kreditní scoring a finanční 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GPAI modely jsou nejrozšířenější AI nástroje v naší firmě — prakticky každý zaměstnanec používá ChatGPT nebo Gemini. Dodavatelský checklist pro ověření souladu dodavatelů GPAI je součástí Compliance Kitu. Důležité: GPT-4o a Gemini Ultra mohou být klasifikovány jako GPAI se systémovým rizikem dle čl. 55–56, což znamená přísnější povinnosti pro OpenAI a Google — my musíme sledovat, zda je plní.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Automation bias je největší praktické riziko. Máme zaměstnance v právních službách, účetnictví, zdravotnictví, HR, stavebnictví i dopravě — ve všech těchto oblastech může nekritické přijetí výstupu AI způsobit vážnou škodu. Zeptejte se účastníků, zda se s halucinací AI již setkali — většina ano.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Tato pravidla si musí zapamatovat každý zaměstnanec. Jsou záměrně jednoduchá. Vytiskněte je a vyvěste na pracovišti. Konkrétní příklady zakázaných dat podle odvětví: Zdravotnictví — jméno pacienta, diagnóza, číslo pojištěnce. Právní služby — jméno klienta, obsah smlouvy, soudní spisy. Účetnictví — čísla účtů, DIČ, mzdové údaje. HR — životopisy s osobními údaji. E-shop — emailové adresy zákazníků, platební údaje. IT — produkční hesla, zdrojový kód. Pojišťovnictví — čísla pojistných smluv, škodní záznamy. Reality — osobní údaje kupujících, interní ocenění.</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GDPR a AI Act se vzájemně doplňují. Klíčový bod: pokud AI systém automaticky rozhoduje o klientovi nebo zaměstnanci, má tato osoba právo požádat o vysvětlení a přezkum člověkem — to vyplývá z čl. 22 GDPR i čl. 26 odst. 6 a čl. 50 odst. 3 AI Act. Zaměstnanci musí vědět, jak na takovou žádost reagovat: přijmout ji, zdokumentovat a eskalovat na odpovědnou osobu.</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Transparentnost je jedna z nejjednodušších povinností k splnění — texty oznámení jsou připraveny v Compliance Kitu. Zaměstnanci zákaznické podpory: pokud se zákazník zeptá, zda komunikuje s AI, odpovězte vždy upřímně a jasně. Výjimka: transparentnost nemusí odhalit obchodní tajemství, ale základní informaci o použití AI ano.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Zaměstnanci v IT a vývoji musí rozumět, že pokud vytvoří nebo podstatně upraví AI systém, firma přebírá povinnosti výrobce. To je velmi závažná odpovědnost. Pro ostatní zaměstnance: jako nasazovatelé máme povinnost zajistit lidský dohled, transparentnost a uchovávání logů. Posouzení shody high-risk systémů zajistí vedení firmy ve spolupráci s externím konzultantem — podrobnosti na dalším slidu.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Lidský dohled není jen zákonná povinnost — je to ochrana zaměstnanců i klientů. Zaměstnanec, který slepě přijme rozhodnutí AI bez přezkumu, nese osobní odpovědnost za důsledky. Přepsání rozhodnutí AI není selhání systému — je to záměrná a žádoucí funkce. Zdůrazněte příklad z e-shopu: dynamické ceny řízené AI mohou být problematické, pokud cílí na zranitelné skupiny (čl. 5 AI Act).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Hlášení incidentů je povinnost každého zaměstnance, ne jen IT nebo vedení. Zdůrazněte: hlášení incidentu není selhání zaměstnance — naopak, je to správné a zákonné chování. Zatajení incidentu je mnohem závažnější problém. Formulář hlášení AI incidentu je v interním systému — ukažte zaměstnancům, kde ho najdou. Zákonná lhůta pro hlášení závažných incidentů dozorové autoritě je 15 dní od zjištění dle čl. 73 odst. 1 AI Act.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Projděte tabulku a zdůrazněte, co je zajištěno a co vyžaduje akci. Posouzení shody 17 high-risk systémů zajistí vedení firmy ve spolupráci s externím konzultantem — Martin Haynes koordinuje. FRIA je nová povinnost, kterou mnoho firem nezná: jde o posouzení, zda AI systém neohrožuje základní práva lidí (diskriminace, přístup ke službám). Šablona FRIA je v Compliance Kitu. Do termínu 2. 8. 2026 zbývá pouze pět měsíců — akce musí začít ihned.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Projděte scénáře interaktivně — zeptejte se účastníků, jak by reagovali, než prozradíte správnou odpověď. Přidejte vlastní scénáře z konkrétních oddělení přítomných zaměstnanců. Cílem je procvičit kritické myšlení a aplikaci pravidel na reálné situace.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Rekapitulujte sedm klíčových bodů. Připomeňte, že materiály ze školení jsou v interním systému a Interní AI politika z Compliance Kitu obsahuje podrobná pravidla pro každodenní práci s AI.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Připomeňte kontaktní osobu. Zdůrazněte, že formuláře pro schvalování nových AI nástrojů a hlášení incidentů jsou v interním systému — ukažte zaměstnancům, kde je najdou. Školení se opakuje minimálně jednou ročně, ale při nasazení nového high-risk systému se koná mimořádné školení. Poděkujte za účast.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371600"/>
            <a:ext cx="8229600" cy="914400"/>
          </a:xfrm>
          <a:prstGeom prst="rect">
            <a:avLst/>
          </a:prstGeom>
          <a:noFill/>
        </p:spPr>
        <p:txBody>
          <a:bodyPr wrap="square">
            <a:spAutoFit/>
          </a:bodyPr>
          <a:lstStyle/>
          <a:p>
            <a:pPr algn="ctr">
              <a:defRPr sz="4800" b="1">
                <a:solidFill>
                  <a:srgbClr val="E879F9"/>
                </a:solidFill>
                <a:latin typeface="Calibri"/>
              </a:defRPr>
            </a:pPr>
            <a:r>
              <a:t>AIshield.cz</a:t>
            </a:r>
          </a:p>
        </p:txBody>
      </p:sp>
      <p:sp>
        <p:nvSpPr>
          <p:cNvPr id="3" name="Rectangle 2"/>
          <p:cNvSpPr/>
          <p:nvPr/>
        </p:nvSpPr>
        <p:spPr>
          <a:xfrm>
            <a:off x="4572000" y="2468880"/>
            <a:ext cx="27432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743200"/>
            <a:ext cx="9144000" cy="914400"/>
          </a:xfrm>
          <a:prstGeom prst="rect">
            <a:avLst/>
          </a:prstGeom>
          <a:noFill/>
        </p:spPr>
        <p:txBody>
          <a:bodyPr wrap="square">
            <a:spAutoFit/>
          </a:bodyPr>
          <a:lstStyle/>
          <a:p>
            <a:pPr algn="ctr">
              <a:defRPr sz="3200" b="1">
                <a:solidFill>
                  <a:srgbClr val="F1F5F9"/>
                </a:solidFill>
                <a:latin typeface="Calibri"/>
              </a:defRPr>
            </a:pPr>
            <a:r>
              <a:t>Školení AI Literacy — Martin Haynes</a:t>
            </a:r>
          </a:p>
        </p:txBody>
      </p:sp>
      <p:sp>
        <p:nvSpPr>
          <p:cNvPr id="5" name="TextBox 4"/>
          <p:cNvSpPr txBox="1"/>
          <p:nvPr/>
        </p:nvSpPr>
        <p:spPr>
          <a:xfrm>
            <a:off x="1828800" y="3840480"/>
            <a:ext cx="8229600" cy="548640"/>
          </a:xfrm>
          <a:prstGeom prst="rect">
            <a:avLst/>
          </a:prstGeom>
          <a:noFill/>
        </p:spPr>
        <p:txBody>
          <a:bodyPr wrap="square">
            <a:spAutoFit/>
          </a:bodyPr>
          <a:lstStyle/>
          <a:p>
            <a:pPr algn="ctr">
              <a:defRPr sz="1600" b="0">
                <a:solidFill>
                  <a:srgbClr val="94A3B8"/>
                </a:solidFill>
                <a:latin typeface="Calibri"/>
              </a:defRPr>
            </a:pPr>
            <a:r>
              <a:t>Povinné školení dle čl. 4 Nařízení (EU) 2024/1689 (AI Act)  •  Obor: E-shop, Účetnictví, Zdravotnictví, Vzdělávání, Výroba, IT, Stavebnictví, Doprava, Gastronomie, Kadeřnictví, Právní služby, Reality, Zemědělství | Velikost: 250+ zaměstnanců  •  Odpovědná osoba za AI: Martin Haynes, Jednatel  •  Datum školení: 26. února 2026</a:t>
            </a:r>
          </a:p>
        </p:txBody>
      </p:sp>
      <p:sp>
        <p:nvSpPr>
          <p:cNvPr id="6" name="TextBox 5"/>
          <p:cNvSpPr txBox="1"/>
          <p:nvPr/>
        </p:nvSpPr>
        <p:spPr>
          <a:xfrm>
            <a:off x="1828800" y="5029200"/>
            <a:ext cx="8229600" cy="457200"/>
          </a:xfrm>
          <a:prstGeom prst="rect">
            <a:avLst/>
          </a:prstGeom>
          <a:noFill/>
        </p:spPr>
        <p:txBody>
          <a:bodyPr wrap="square">
            <a:spAutoFit/>
          </a:bodyPr>
          <a:lstStyle/>
          <a:p>
            <a:pPr algn="ctr">
              <a:defRPr sz="1200" b="0">
                <a:solidFill>
                  <a:srgbClr val="94A3B8"/>
                </a:solidFill>
                <a:latin typeface="Calibri"/>
              </a:defRPr>
            </a:pPr>
            <a:r>
              <a:t>Vygenerováno: 26. 02. 2026  •  Rozsah: 2–3 hodiny  •  Cílová skupina: Všichni zaměstnanci</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Agenda školení</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600">
                <a:solidFill>
                  <a:srgbClr val="F1F5F9"/>
                </a:solidFill>
                <a:latin typeface="Calibri"/>
              </a:defRPr>
            </a:pPr>
            <a:r>
              <a:t>• Modul 1 — Co je umělá inteligence a jak ji poznáte (15 min)</a:t>
            </a:r>
          </a:p>
          <a:p>
            <a:pPr>
              <a:spcAft>
                <a:spcPts val="800"/>
              </a:spcAft>
              <a:defRPr sz="1600">
                <a:solidFill>
                  <a:srgbClr val="F1F5F9"/>
                </a:solidFill>
                <a:latin typeface="Calibri"/>
              </a:defRPr>
            </a:pPr>
            <a:r>
              <a:t>• Modul 2 — EU AI Act: kategorie rizik a časová osa (20 min)</a:t>
            </a:r>
          </a:p>
          <a:p>
            <a:pPr>
              <a:spcAft>
                <a:spcPts val="800"/>
              </a:spcAft>
              <a:defRPr sz="1600">
                <a:solidFill>
                  <a:srgbClr val="F1F5F9"/>
                </a:solidFill>
                <a:latin typeface="Calibri"/>
              </a:defRPr>
            </a:pPr>
            <a:r>
              <a:t>• Modul 3 — AI v naší firmě: konkrétní systémy, rizika, zakázané praktiky (25 min)</a:t>
            </a:r>
          </a:p>
          <a:p>
            <a:pPr>
              <a:spcAft>
                <a:spcPts val="800"/>
              </a:spcAft>
              <a:defRPr sz="1600">
                <a:solidFill>
                  <a:srgbClr val="F1F5F9"/>
                </a:solidFill>
                <a:latin typeface="Calibri"/>
              </a:defRPr>
            </a:pPr>
            <a:r>
              <a:t>• Přestávka (10 min)</a:t>
            </a:r>
          </a:p>
          <a:p>
            <a:pPr>
              <a:spcAft>
                <a:spcPts val="800"/>
              </a:spcAft>
              <a:defRPr sz="1600">
                <a:solidFill>
                  <a:srgbClr val="F1F5F9"/>
                </a:solidFill>
                <a:latin typeface="Calibri"/>
              </a:defRPr>
            </a:pPr>
            <a:r>
              <a:t>• Modul 4 — Bezpečné používání AI v praxi: pravidla a scénáře (25 min)</a:t>
            </a:r>
          </a:p>
          <a:p>
            <a:pPr>
              <a:spcAft>
                <a:spcPts val="800"/>
              </a:spcAft>
              <a:defRPr sz="1600">
                <a:solidFill>
                  <a:srgbClr val="F1F5F9"/>
                </a:solidFill>
                <a:latin typeface="Calibri"/>
              </a:defRPr>
            </a:pPr>
            <a:r>
              <a:t>• Modul 5 — Naše povinnosti, incidenty a další kroky (20 min)</a:t>
            </a:r>
          </a:p>
          <a:p>
            <a:pPr>
              <a:spcAft>
                <a:spcPts val="800"/>
              </a:spcAft>
              <a:defRPr sz="1600">
                <a:solidFill>
                  <a:srgbClr val="F1F5F9"/>
                </a:solidFill>
                <a:latin typeface="Calibri"/>
              </a:defRPr>
            </a:pPr>
            <a:r>
              <a:t>• Modul 6 — Shrnutí, kontakty, dotazy (10 min)</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Proč jsme tady</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800">
                <a:solidFill>
                  <a:srgbClr val="F1F5F9"/>
                </a:solidFill>
                <a:latin typeface="Calibri"/>
              </a:defRPr>
            </a:pPr>
            <a:r>
              <a:t>• AI gramotnost je zákonná povinnost od 2. února 2025 dle čl. 4 AI Act — termín již uplynul</a:t>
            </a:r>
          </a:p>
          <a:p>
            <a:pPr>
              <a:spcAft>
                <a:spcPts val="800"/>
              </a:spcAft>
              <a:defRPr sz="1800">
                <a:solidFill>
                  <a:srgbClr val="F1F5F9"/>
                </a:solidFill>
                <a:latin typeface="Calibri"/>
              </a:defRPr>
            </a:pPr>
            <a:r>
              <a:t>• Naše firma provozuje desítky AI systémů napříč všemi odvětvími — každý zaměstnanec s nimi přichází do styku</a:t>
            </a:r>
          </a:p>
          <a:p>
            <a:pPr>
              <a:spcAft>
                <a:spcPts val="800"/>
              </a:spcAft>
              <a:defRPr sz="1800">
                <a:solidFill>
                  <a:srgbClr val="F1F5F9"/>
                </a:solidFill>
                <a:latin typeface="Calibri"/>
              </a:defRPr>
            </a:pPr>
            <a:r>
              <a:t>• Celkový rizikový profil firmy: VYSOKÉ RIZIKO — 17 systémů vysokého rizika, 18 systémů omezeného rizika, 1 minimální</a:t>
            </a:r>
          </a:p>
          <a:p>
            <a:pPr>
              <a:spcAft>
                <a:spcPts val="800"/>
              </a:spcAft>
              <a:defRPr sz="1800">
                <a:solidFill>
                  <a:srgbClr val="F1F5F9"/>
                </a:solidFill>
                <a:latin typeface="Calibri"/>
              </a:defRPr>
            </a:pPr>
            <a:r>
              <a:t>• Pokuty za nesplnění: až 15 mil. EUR nebo 3 % obratu (čl. 99 odst. 4); za zakázané praktiky: až 35 mil. EUR nebo 7 % obratu (čl. 99 odst. 3)</a:t>
            </a:r>
          </a:p>
          <a:p>
            <a:pPr>
              <a:spcAft>
                <a:spcPts val="800"/>
              </a:spcAft>
              <a:defRPr sz="1800">
                <a:solidFill>
                  <a:srgbClr val="F1F5F9"/>
                </a:solidFill>
                <a:latin typeface="Calibri"/>
              </a:defRPr>
            </a:pPr>
            <a:r>
              <a:t>• Školení chrání firmu i každého zaměstnance osobně — vy nesete odpovědnost za to, jak AI používáte</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Co je umělá inteligence</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600">
                <a:solidFill>
                  <a:srgbClr val="F1F5F9"/>
                </a:solidFill>
                <a:latin typeface="Calibri"/>
              </a:defRPr>
            </a:pPr>
            <a:r>
              <a:t>• AI = strojový systém, který na základě vstupních dat generuje výstupy (text, obraz, rozhodnutí) s různou mírou autonomie (čl. 3 odst. 1 AI Act)</a:t>
            </a:r>
          </a:p>
          <a:p>
            <a:pPr>
              <a:spcAft>
                <a:spcPts val="800"/>
              </a:spcAft>
              <a:defRPr sz="1600">
                <a:solidFill>
                  <a:srgbClr val="F1F5F9"/>
                </a:solidFill>
                <a:latin typeface="Calibri"/>
              </a:defRPr>
            </a:pPr>
            <a:r>
              <a:t>• Generativní AI (ChatGPT, Gemini, Claude) — generuje nový obsah na základě promptu</a:t>
            </a:r>
          </a:p>
          <a:p>
            <a:pPr>
              <a:spcAft>
                <a:spcPts val="800"/>
              </a:spcAft>
              <a:defRPr sz="1600">
                <a:solidFill>
                  <a:srgbClr val="F1F5F9"/>
                </a:solidFill>
                <a:latin typeface="Calibri"/>
              </a:defRPr>
            </a:pPr>
            <a:r>
              <a:t>• Prediktivní AI — předpovídá výsledky (kreditní scoring CRIF, diagnostika, dynamické ceny Prisync)</a:t>
            </a:r>
          </a:p>
          <a:p>
            <a:pPr>
              <a:spcAft>
                <a:spcPts val="800"/>
              </a:spcAft>
              <a:defRPr sz="1600">
                <a:solidFill>
                  <a:srgbClr val="F1F5F9"/>
                </a:solidFill>
                <a:latin typeface="Calibri"/>
              </a:defRPr>
            </a:pPr>
            <a:r>
              <a:t>• Rozhodovací AI — automaticky rozhoduje nebo doporučuje (LinkedIn Recruiter AI, Guidewire pojistné plnění)</a:t>
            </a:r>
          </a:p>
          <a:p>
            <a:pPr>
              <a:spcAft>
                <a:spcPts val="800"/>
              </a:spcAft>
              <a:defRPr sz="1600">
                <a:solidFill>
                  <a:srgbClr val="F1F5F9"/>
                </a:solidFill>
                <a:latin typeface="Calibri"/>
              </a:defRPr>
            </a:pPr>
            <a:r>
              <a:t>• AI vs. automatizace: automatizace provádí přesně definované kroky; AI se přizpůsobuje a „učí"</a:t>
            </a:r>
          </a:p>
          <a:p>
            <a:pPr>
              <a:spcAft>
                <a:spcPts val="800"/>
              </a:spcAft>
              <a:defRPr sz="1600">
                <a:solidFill>
                  <a:srgbClr val="F1F5F9"/>
                </a:solidFill>
                <a:latin typeface="Calibri"/>
              </a:defRPr>
            </a:pPr>
            <a:r>
              <a:t>• Příklad z naší praxe: Freshdesk AI analyzuje obsah zákaznické zprávy a přizpůsobí odpověď — to je AI. Klasický autoresponder vždy odpoví stejně — to je automatizace.</a:t>
            </a:r>
          </a:p>
          <a:p>
            <a:pPr>
              <a:spcAft>
                <a:spcPts val="800"/>
              </a:spcAft>
              <a:defRPr sz="1600">
                <a:solidFill>
                  <a:srgbClr val="F1F5F9"/>
                </a:solidFill>
                <a:latin typeface="Calibri"/>
              </a:defRPr>
            </a:pPr>
            <a:r>
              <a:t>• Příklady AI v běžném životě: GPS navigace, spam filtr, doporučení produktů v e-shopu, automatický překlad (DeepL)</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EU AI Act — časová osa a kategorie rizik</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Nařízení (EU) 2024/1689 — první komplexní zákon o AI na světě, platí pro VŠECHNY firmy v EU</a:t>
            </a:r>
          </a:p>
          <a:p>
            <a:pPr>
              <a:spcAft>
                <a:spcPts val="800"/>
              </a:spcAft>
              <a:defRPr sz="1400">
                <a:solidFill>
                  <a:srgbClr val="F1F5F9"/>
                </a:solidFill>
                <a:latin typeface="Calibri"/>
              </a:defRPr>
            </a:pPr>
            <a:r>
              <a:t>• Zakázané praktiky (čl. 5) + AI gramotnost (čl. 4): od 2. 2. 2025 — již platí</a:t>
            </a:r>
          </a:p>
          <a:p>
            <a:pPr>
              <a:spcAft>
                <a:spcPts val="800"/>
              </a:spcAft>
              <a:defRPr sz="1400">
                <a:solidFill>
                  <a:srgbClr val="F1F5F9"/>
                </a:solidFill>
                <a:latin typeface="Calibri"/>
              </a:defRPr>
            </a:pPr>
            <a:r>
              <a:t>• GPAI modely — ChatGPT, Gemini, Claude (čl. 51–56): od 2. 8. 2025 — již platí</a:t>
            </a:r>
          </a:p>
          <a:p>
            <a:pPr>
              <a:spcAft>
                <a:spcPts val="800"/>
              </a:spcAft>
              <a:defRPr sz="1400">
                <a:solidFill>
                  <a:srgbClr val="F1F5F9"/>
                </a:solidFill>
                <a:latin typeface="Calibri"/>
              </a:defRPr>
            </a:pPr>
            <a:r>
              <a:t>• Plná účinnost pro high-risk systémy (Příloha III): 2. 8. 2026 — zbývá 5 měsíců</a:t>
            </a:r>
          </a:p>
          <a:p>
            <a:pPr>
              <a:spcAft>
                <a:spcPts val="800"/>
              </a:spcAft>
              <a:defRPr sz="1400">
                <a:solidFill>
                  <a:srgbClr val="F1F5F9"/>
                </a:solidFill>
                <a:latin typeface="Calibri"/>
              </a:defRPr>
            </a:pPr>
            <a:r>
              <a:t>• High-risk systémy dle Přílohy I (bezpečnostní komponenty): 2. 8. 2027</a:t>
            </a:r>
          </a:p>
          <a:p>
            <a:pPr>
              <a:spcAft>
                <a:spcPts val="800"/>
              </a:spcAft>
              <a:defRPr sz="1400">
                <a:solidFill>
                  <a:srgbClr val="F1F5F9"/>
                </a:solidFill>
                <a:latin typeface="Calibri"/>
              </a:defRPr>
            </a:pPr>
            <a:r>
              <a:t>• NEPŘIJATELNÉ RIZIKO — zakázáno (čl. 5): sociální scoring, podprahová manipulace, biometrie v reálném čase, rozpoznávání emocí na pracovišti/ve školách</a:t>
            </a:r>
          </a:p>
          <a:p>
            <a:pPr>
              <a:spcAft>
                <a:spcPts val="800"/>
              </a:spcAft>
              <a:defRPr sz="1400">
                <a:solidFill>
                  <a:srgbClr val="F1F5F9"/>
                </a:solidFill>
                <a:latin typeface="Calibri"/>
              </a:defRPr>
            </a:pPr>
            <a:r>
              <a:t>• VYSOKÉ RIZIKO — přísné povinnosti (čl. 6, Příloha III): HR nábor, kreditní scoring, zdravotnictví, vzdělávání, kritická infrastruktura, pojišťovnictví — naše firma: 17 systémů</a:t>
            </a:r>
          </a:p>
          <a:p>
            <a:pPr>
              <a:spcAft>
                <a:spcPts val="800"/>
              </a:spcAft>
              <a:defRPr sz="1400">
                <a:solidFill>
                  <a:srgbClr val="F1F5F9"/>
                </a:solidFill>
                <a:latin typeface="Calibri"/>
              </a:defRPr>
            </a:pPr>
            <a:r>
              <a:t>• OMEZENÉ RIZIKO — povinnost transparentnosti (čl. 50): chatboty, generativní AI, deepfakes — naše firma: 18 systémů</a:t>
            </a:r>
          </a:p>
          <a:p>
            <a:pPr>
              <a:spcAft>
                <a:spcPts val="800"/>
              </a:spcAft>
              <a:defRPr sz="1400">
                <a:solidFill>
                  <a:srgbClr val="F1F5F9"/>
                </a:solidFill>
                <a:latin typeface="Calibri"/>
              </a:defRPr>
            </a:pPr>
            <a:r>
              <a:t>• MINIMÁLNÍ RIZIKO — bez zvláštních povinností: spam filtry, základní analytika — naše firma: 1 systém</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Zakázané AI praktiky (čl. 5) — platí od 2. 2. 2025</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600">
                <a:solidFill>
                  <a:srgbClr val="F1F5F9"/>
                </a:solidFill>
                <a:latin typeface="Calibri"/>
              </a:defRPr>
            </a:pPr>
            <a:r>
              <a:t>• Sociální scoring — hodnocení lidí podle chování nebo osobnostních rysů vedoucí k jejich poškození</a:t>
            </a:r>
          </a:p>
          <a:p>
            <a:pPr>
              <a:spcAft>
                <a:spcPts val="800"/>
              </a:spcAft>
              <a:defRPr sz="1600">
                <a:solidFill>
                  <a:srgbClr val="F1F5F9"/>
                </a:solidFill>
                <a:latin typeface="Calibri"/>
              </a:defRPr>
            </a:pPr>
            <a:r>
              <a:t>• Podprahová manipulace — AI ovlivňující rozhodnutí způsobem, který obchází vědomé uvažování (skryté přesvědčovací techniky)</a:t>
            </a:r>
          </a:p>
          <a:p>
            <a:pPr>
              <a:spcAft>
                <a:spcPts val="800"/>
              </a:spcAft>
              <a:defRPr sz="1600">
                <a:solidFill>
                  <a:srgbClr val="F1F5F9"/>
                </a:solidFill>
                <a:latin typeface="Calibri"/>
              </a:defRPr>
            </a:pPr>
            <a:r>
              <a:t>• Biometrická identifikace v reálném čase na veřejně přístupných místech (s výjimkami pro bezpečnostní složky)</a:t>
            </a:r>
          </a:p>
          <a:p>
            <a:pPr>
              <a:spcAft>
                <a:spcPts val="800"/>
              </a:spcAft>
              <a:defRPr sz="1600">
                <a:solidFill>
                  <a:srgbClr val="F1F5F9"/>
                </a:solidFill>
                <a:latin typeface="Calibri"/>
              </a:defRPr>
            </a:pPr>
            <a:r>
              <a:t>• Prediktivní policing — hodnocení rizika kriminality na základě profilingu bez konkrétního jednání</a:t>
            </a:r>
          </a:p>
          <a:p>
            <a:pPr>
              <a:spcAft>
                <a:spcPts val="800"/>
              </a:spcAft>
              <a:defRPr sz="1600">
                <a:solidFill>
                  <a:srgbClr val="F1F5F9"/>
                </a:solidFill>
                <a:latin typeface="Calibri"/>
              </a:defRPr>
            </a:pPr>
            <a:r>
              <a:t>• Rozpoznávání emocí na pracovišti a ve vzdělávacích institucích</a:t>
            </a:r>
          </a:p>
          <a:p>
            <a:pPr>
              <a:spcAft>
                <a:spcPts val="800"/>
              </a:spcAft>
              <a:defRPr sz="1600">
                <a:solidFill>
                  <a:srgbClr val="F1F5F9"/>
                </a:solidFill>
                <a:latin typeface="Calibri"/>
              </a:defRPr>
            </a:pPr>
            <a:r>
              <a:t>• Scraping obličejů z internetu nebo kamerových záznamů pro vytváření databází</a:t>
            </a:r>
          </a:p>
          <a:p>
            <a:pPr>
              <a:spcAft>
                <a:spcPts val="800"/>
              </a:spcAft>
              <a:defRPr sz="1600">
                <a:solidFill>
                  <a:srgbClr val="F1F5F9"/>
                </a:solidFill>
                <a:latin typeface="Calibri"/>
              </a:defRPr>
            </a:pPr>
            <a:r>
              <a:t>• Porušení: pokuta až 35 mil. EUR nebo 7 % ročního obratu</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AI systémy v naší firmě — přehled</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200">
                <a:solidFill>
                  <a:srgbClr val="F1F5F9"/>
                </a:solidFill>
                <a:latin typeface="Calibri"/>
              </a:defRPr>
            </a:pPr>
            <a:r>
              <a:t>• Generativní AI: ChatGPT (GPT-4o), Claude (Anthropic), Gemini (Google), Copilot (Microsoft), Perplexity</a:t>
            </a:r>
          </a:p>
          <a:p>
            <a:pPr>
              <a:spcAft>
                <a:spcPts val="800"/>
              </a:spcAft>
              <a:defRPr sz="1200">
                <a:solidFill>
                  <a:srgbClr val="F1F5F9"/>
                </a:solidFill>
                <a:latin typeface="Calibri"/>
              </a:defRPr>
            </a:pPr>
            <a:r>
              <a:t>• Vývojářské AI: GitHub Copilot, Cursor</a:t>
            </a:r>
          </a:p>
          <a:p>
            <a:pPr>
              <a:spcAft>
                <a:spcPts val="800"/>
              </a:spcAft>
              <a:defRPr sz="1200">
                <a:solidFill>
                  <a:srgbClr val="F1F5F9"/>
                </a:solidFill>
                <a:latin typeface="Calibri"/>
              </a:defRPr>
            </a:pPr>
            <a:r>
              <a:t>• Kreativní AI: DALL-E, Midjourney (obrázky); Sora, VEO3, HeyGen, Synthesia (video); ElevenLabs (hlas)</a:t>
            </a:r>
          </a:p>
          <a:p>
            <a:pPr>
              <a:spcAft>
                <a:spcPts val="800"/>
              </a:spcAft>
              <a:defRPr sz="1200">
                <a:solidFill>
                  <a:srgbClr val="F1F5F9"/>
                </a:solidFill>
                <a:latin typeface="Calibri"/>
              </a:defRPr>
            </a:pPr>
            <a:r>
              <a:t>• Zákaznická podpora: Freshdesk AI, Zendesk AI, Intercom + Google Gemini Chatbot na webu</a:t>
            </a:r>
          </a:p>
          <a:p>
            <a:pPr>
              <a:spcAft>
                <a:spcPts val="800"/>
              </a:spcAft>
              <a:defRPr sz="1200">
                <a:solidFill>
                  <a:srgbClr val="F1F5F9"/>
                </a:solidFill>
                <a:latin typeface="Calibri"/>
              </a:defRPr>
            </a:pPr>
            <a:r>
              <a:t>• HR a nábor: LinkedIn Recruiter AI, Teamio, LMC/Jobs.cz AI, Prace.cz AI, Sloneek</a:t>
            </a:r>
          </a:p>
          <a:p>
            <a:pPr>
              <a:spcAft>
                <a:spcPts val="800"/>
              </a:spcAft>
              <a:defRPr sz="1200">
                <a:solidFill>
                  <a:srgbClr val="F1F5F9"/>
                </a:solidFill>
                <a:latin typeface="Calibri"/>
              </a:defRPr>
            </a:pPr>
            <a:r>
              <a:t>• Monitoring zaměstnanců: Sledování obrazovky, měření produktivity, GPS sledování, kamerový dohled s AI, analýza emailů</a:t>
            </a:r>
          </a:p>
          <a:p>
            <a:pPr>
              <a:spcAft>
                <a:spcPts val="800"/>
              </a:spcAft>
              <a:defRPr sz="1200">
                <a:solidFill>
                  <a:srgbClr val="F1F5F9"/>
                </a:solidFill>
                <a:latin typeface="Calibri"/>
              </a:defRPr>
            </a:pPr>
            <a:r>
              <a:t>• Finanční AI: CRIF, Bisnode/D&amp;B, Scoring Solutions (kreditní scoring); Fakturoid, Money S5, ABRA, Pohoda, iDoklad</a:t>
            </a:r>
          </a:p>
          <a:p>
            <a:pPr>
              <a:spcAft>
                <a:spcPts val="800"/>
              </a:spcAft>
              <a:defRPr sz="1200">
                <a:solidFill>
                  <a:srgbClr val="F1F5F9"/>
                </a:solidFill>
                <a:latin typeface="Calibri"/>
              </a:defRPr>
            </a:pPr>
            <a:r>
              <a:t>• Pojišťovnictví: Guidewire, NESS/Allianz AI, ČPP/ČSOB interní AI</a:t>
            </a:r>
          </a:p>
          <a:p>
            <a:pPr>
              <a:spcAft>
                <a:spcPts val="800"/>
              </a:spcAft>
              <a:defRPr sz="1200">
                <a:solidFill>
                  <a:srgbClr val="F1F5F9"/>
                </a:solidFill>
                <a:latin typeface="Calibri"/>
              </a:defRPr>
            </a:pPr>
            <a:r>
              <a:t>• Cenotvorba: Prisync, Competera, Dynamic Yield (dynamické ceny)</a:t>
            </a:r>
          </a:p>
          <a:p>
            <a:pPr>
              <a:spcAft>
                <a:spcPts val="800"/>
              </a:spcAft>
              <a:defRPr sz="1200">
                <a:solidFill>
                  <a:srgbClr val="F1F5F9"/>
                </a:solidFill>
                <a:latin typeface="Calibri"/>
              </a:defRPr>
            </a:pPr>
            <a:r>
              <a:t>• Kritická infrastruktura: pospa ing.</a:t>
            </a:r>
          </a:p>
          <a:p>
            <a:pPr>
              <a:spcAft>
                <a:spcPts val="800"/>
              </a:spcAft>
              <a:defRPr sz="1200">
                <a:solidFill>
                  <a:srgbClr val="F1F5F9"/>
                </a:solidFill>
                <a:latin typeface="Calibri"/>
              </a:defRPr>
            </a:pPr>
            <a:r>
              <a:t>• Vlastní vývoj: vlastní AI systémy, změna účelu existujících AI systémů, integrace LLM API</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Rizikový profil našich AI systémů</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200">
                <a:solidFill>
                  <a:srgbClr val="F1F5F9"/>
                </a:solidFill>
                <a:latin typeface="Calibri"/>
              </a:defRPr>
            </a:pPr>
            <a:r>
              <a:t>• AI systém / kategorie | Riziko | Klíčová povinnost</a:t>
            </a:r>
          </a:p>
          <a:p>
            <a:pPr>
              <a:spcAft>
                <a:spcPts val="800"/>
              </a:spcAft>
              <a:defRPr sz="1200">
                <a:solidFill>
                  <a:srgbClr val="F1F5F9"/>
                </a:solidFill>
                <a:latin typeface="Calibri"/>
              </a:defRPr>
            </a:pPr>
            <a:r>
              <a:t>• „vlastní html" (potenciální sociální scoring) | ZAKÁZÁNO? | Okamžitý právní audit — čl. 5 AI Act</a:t>
            </a:r>
          </a:p>
          <a:p>
            <a:pPr>
              <a:spcAft>
                <a:spcPts val="800"/>
              </a:spcAft>
              <a:defRPr sz="1200">
                <a:solidFill>
                  <a:srgbClr val="F1F5F9"/>
                </a:solidFill>
                <a:latin typeface="Calibri"/>
              </a:defRPr>
            </a:pPr>
            <a:r>
              <a:t>• „vlastní kód" (potenciální biometrie/emoce) | ZAKÁZÁNO? | Okamžitý právní audit — čl. 5 AI Act</a:t>
            </a:r>
          </a:p>
          <a:p>
            <a:pPr>
              <a:spcAft>
                <a:spcPts val="800"/>
              </a:spcAft>
              <a:defRPr sz="1200">
                <a:solidFill>
                  <a:srgbClr val="F1F5F9"/>
                </a:solidFill>
                <a:latin typeface="Calibri"/>
              </a:defRPr>
            </a:pPr>
            <a:r>
              <a:t>• HR nábor (LinkedIn Recruiter AI, Teamio, LMC AI, Prace.cz AI) | VYSOKÉ | Posouzení shody, lidský dohled, právo kandidáta na vysvětlení</a:t>
            </a:r>
          </a:p>
          <a:p>
            <a:pPr>
              <a:spcAft>
                <a:spcPts val="800"/>
              </a:spcAft>
              <a:defRPr sz="1200">
                <a:solidFill>
                  <a:srgbClr val="F1F5F9"/>
                </a:solidFill>
                <a:latin typeface="Calibri"/>
              </a:defRPr>
            </a:pPr>
            <a:r>
              <a:t>• Monitoring zaměstnanců (obrazovka, GPS, kamera s AI, emaily) | VYSOKÉ | DPIA, souhlas zaměstnanců, transparentnost, GDPR čl. 22</a:t>
            </a:r>
          </a:p>
          <a:p>
            <a:pPr>
              <a:spcAft>
                <a:spcPts val="800"/>
              </a:spcAft>
              <a:defRPr sz="1200">
                <a:solidFill>
                  <a:srgbClr val="F1F5F9"/>
                </a:solidFill>
                <a:latin typeface="Calibri"/>
              </a:defRPr>
            </a:pPr>
            <a:r>
              <a:t>• Kreditní scoring (CRIF, Bisnode, Scoring Solutions) | VYSOKÉ | Posouzení shody, právo na vysvětlení (čl. 26 odst. 6 AI Act)</a:t>
            </a:r>
          </a:p>
          <a:p>
            <a:pPr>
              <a:spcAft>
                <a:spcPts val="800"/>
              </a:spcAft>
              <a:defRPr sz="1200">
                <a:solidFill>
                  <a:srgbClr val="F1F5F9"/>
                </a:solidFill>
                <a:latin typeface="Calibri"/>
              </a:defRPr>
            </a:pPr>
            <a:r>
              <a:t>• Pojišťovnictví (Guidewire, Allianz AI, ČPP/ČSOB AI) | VYSOKÉ | Posouzení shody, právo pojistníka na vysvětlení</a:t>
            </a:r>
          </a:p>
          <a:p>
            <a:pPr>
              <a:spcAft>
                <a:spcPts val="800"/>
              </a:spcAft>
              <a:defRPr sz="1200">
                <a:solidFill>
                  <a:srgbClr val="F1F5F9"/>
                </a:solidFill>
                <a:latin typeface="Calibri"/>
              </a:defRPr>
            </a:pPr>
            <a:r>
              <a:t>• Kritická infrastruktura (pospa ing.) | VYSOKÉ | Registrace u NÚKIB, systém řízení rizik, CE označení</a:t>
            </a:r>
          </a:p>
          <a:p>
            <a:pPr>
              <a:spcAft>
                <a:spcPts val="800"/>
              </a:spcAft>
              <a:defRPr sz="1200">
                <a:solidFill>
                  <a:srgbClr val="F1F5F9"/>
                </a:solidFill>
                <a:latin typeface="Calibri"/>
              </a:defRPr>
            </a:pPr>
            <a:r>
              <a:t>• Vzdělávání / e-learning s AI, obsah pro děti | VYSOKÉ | Zvýšená ochrana nezletilých, posouzení shody</a:t>
            </a:r>
          </a:p>
          <a:p>
            <a:pPr>
              <a:spcAft>
                <a:spcPts val="800"/>
              </a:spcAft>
              <a:defRPr sz="1200">
                <a:solidFill>
                  <a:srgbClr val="F1F5F9"/>
                </a:solidFill>
                <a:latin typeface="Calibri"/>
              </a:defRPr>
            </a:pPr>
            <a:r>
              <a:t>• AI rozhodující o právech zákazníků (reklamace, slevy, přístup) | VYSOKÉ | Lidský dohled (čl. 14), právo na přezkum člověkem</a:t>
            </a:r>
          </a:p>
          <a:p>
            <a:pPr>
              <a:spcAft>
                <a:spcPts val="800"/>
              </a:spcAft>
              <a:defRPr sz="1200">
                <a:solidFill>
                  <a:srgbClr val="F1F5F9"/>
                </a:solidFill>
                <a:latin typeface="Calibri"/>
              </a:defRPr>
            </a:pPr>
            <a:r>
              <a:t>• Bezpečnostní komponenty (zdravotnické přístroje, průmyslové stroje, automobily) | VYSOKÉ | Posouzení shody, CE označení, technická dokumentace — od 2. 8. 2027</a:t>
            </a:r>
          </a:p>
          <a:p>
            <a:pPr>
              <a:spcAft>
                <a:spcPts val="800"/>
              </a:spcAft>
              <a:defRPr sz="1200">
                <a:solidFill>
                  <a:srgbClr val="F1F5F9"/>
                </a:solidFill>
                <a:latin typeface="Calibri"/>
              </a:defRPr>
            </a:pPr>
            <a:r>
              <a:t>• Vlastní vývoj AI, změna účelu AI systému | VYSOKÉ | Povinnosti poskytovatele dle čl. 16–18, čl. 25 AI Act</a:t>
            </a:r>
          </a:p>
          <a:p>
            <a:pPr>
              <a:spcAft>
                <a:spcPts val="800"/>
              </a:spcAft>
              <a:defRPr sz="1200">
                <a:solidFill>
                  <a:srgbClr val="F1F5F9"/>
                </a:solidFill>
                <a:latin typeface="Calibri"/>
              </a:defRPr>
            </a:pPr>
            <a:r>
              <a:t>• ChatGPT, Claude, Gemini, Copilot, Perplexity (GPAI) | OMEZENÉ | Transparentnost, interní pravidla, GPAI povinnosti čl. 51–56</a:t>
            </a:r>
          </a:p>
          <a:p>
            <a:pPr>
              <a:spcAft>
                <a:spcPts val="800"/>
              </a:spcAft>
              <a:defRPr sz="1200">
                <a:solidFill>
                  <a:srgbClr val="F1F5F9"/>
                </a:solidFill>
                <a:latin typeface="Calibri"/>
              </a:defRPr>
            </a:pPr>
            <a:r>
              <a:t>• Freshdesk AI, Zendesk AI, Intercom, Gemini Chatbot | OMEZENÉ | Označení AI komunikace dle čl. 50 odst. 1</a:t>
            </a:r>
          </a:p>
          <a:p>
            <a:pPr>
              <a:spcAft>
                <a:spcPts val="800"/>
              </a:spcAft>
              <a:defRPr sz="1200">
                <a:solidFill>
                  <a:srgbClr val="F1F5F9"/>
                </a:solidFill>
                <a:latin typeface="Calibri"/>
              </a:defRPr>
            </a:pPr>
            <a:r>
              <a:t>• DALL-E, Midjourney, HeyGen, Synthesia, ElevenLabs | OMEZENÉ | Označení syntetického obsahu dle čl. 50 odst. 2</a:t>
            </a:r>
          </a:p>
          <a:p>
            <a:pPr>
              <a:spcAft>
                <a:spcPts val="800"/>
              </a:spcAft>
              <a:defRPr sz="1200">
                <a:solidFill>
                  <a:srgbClr val="F1F5F9"/>
                </a:solidFill>
                <a:latin typeface="Calibri"/>
              </a:defRPr>
            </a:pPr>
            <a:r>
              <a:t>• Prisync, Competera, Dynamic Yield (dynamické ceny) | OMEZENÉ | Transparentnost cenotvorby, ochrana zranitelných skupin</a:t>
            </a:r>
          </a:p>
          <a:p>
            <a:pPr>
              <a:spcAft>
                <a:spcPts val="800"/>
              </a:spcAft>
              <a:defRPr sz="1200">
                <a:solidFill>
                  <a:srgbClr val="F1F5F9"/>
                </a:solidFill>
                <a:latin typeface="Calibri"/>
              </a:defRPr>
            </a:pPr>
            <a:r>
              <a:t>• GitHub Copilot, Cursor | MINIMÁLNÍ | Code review, dokumentace použití AI v development procesu</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GPAI modely — zvláštní pravidla od 2. 8. 2025</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GPAI = General Purpose AI — modely pro obecné použití (ChatGPT, Claude, Gemini, Copilot, Mistral)</a:t>
            </a:r>
          </a:p>
          <a:p>
            <a:pPr>
              <a:spcAft>
                <a:spcPts val="800"/>
              </a:spcAft>
              <a:defRPr sz="1400">
                <a:solidFill>
                  <a:srgbClr val="F1F5F9"/>
                </a:solidFill>
                <a:latin typeface="Calibri"/>
              </a:defRPr>
            </a:pPr>
            <a:r>
              <a:t>• Od 2. 8. 2025 platí čl. 51–56 AI Act — termín již uplynul</a:t>
            </a:r>
          </a:p>
          <a:p>
            <a:pPr>
              <a:spcAft>
                <a:spcPts val="800"/>
              </a:spcAft>
              <a:defRPr sz="1400">
                <a:solidFill>
                  <a:srgbClr val="F1F5F9"/>
                </a:solidFill>
                <a:latin typeface="Calibri"/>
              </a:defRPr>
            </a:pPr>
            <a:r>
              <a:t>• Naše firma integruje GPAI přes API (Gemini Proxy na webu, Freshdesk AI) — jsme nasazovatel GPAI</a:t>
            </a:r>
          </a:p>
          <a:p>
            <a:pPr>
              <a:spcAft>
                <a:spcPts val="800"/>
              </a:spcAft>
              <a:defRPr sz="1400">
                <a:solidFill>
                  <a:srgbClr val="F1F5F9"/>
                </a:solidFill>
                <a:latin typeface="Calibri"/>
              </a:defRPr>
            </a:pPr>
            <a:r>
              <a:t>• Povinnost nasazovatele: ověřit, že dodavatel GPAI (OpenAI, Google, Anthropic) plní povinnosti dle čl. 53</a:t>
            </a:r>
          </a:p>
          <a:p>
            <a:pPr>
              <a:spcAft>
                <a:spcPts val="800"/>
              </a:spcAft>
              <a:defRPr sz="1400">
                <a:solidFill>
                  <a:srgbClr val="F1F5F9"/>
                </a:solidFill>
                <a:latin typeface="Calibri"/>
              </a:defRPr>
            </a:pPr>
            <a:r>
              <a:t>• Čl. 55–56: některé GPAI modely (GPT-4o, Gemini Ultra) mohou být klasifikovány jako GPAI se systémovým rizikem — přísnější povinnosti pro dodavatele, které musíme sledovat</a:t>
            </a:r>
          </a:p>
          <a:p>
            <a:pPr>
              <a:spcAft>
                <a:spcPts val="800"/>
              </a:spcAft>
              <a:defRPr sz="1400">
                <a:solidFill>
                  <a:srgbClr val="F1F5F9"/>
                </a:solidFill>
                <a:latin typeface="Calibri"/>
              </a:defRPr>
            </a:pPr>
            <a:r>
              <a:t>• Transparentnost: uživatelé musí vědět, že komunikují s AI poháněnou GPAI modelem (čl. 50 odst. 1)</a:t>
            </a:r>
          </a:p>
          <a:p>
            <a:pPr>
              <a:spcAft>
                <a:spcPts val="800"/>
              </a:spcAft>
              <a:defRPr sz="1400">
                <a:solidFill>
                  <a:srgbClr val="F1F5F9"/>
                </a:solidFill>
                <a:latin typeface="Calibri"/>
              </a:defRPr>
            </a:pPr>
            <a:r>
              <a:t>• Interní pravidla: zaměstnanci nesmí vkládat do GPAI nástrojů citlivá data bez schválení</a:t>
            </a:r>
          </a:p>
          <a:p>
            <a:pPr>
              <a:spcAft>
                <a:spcPts val="800"/>
              </a:spcAft>
              <a:defRPr sz="1400">
                <a:solidFill>
                  <a:srgbClr val="F1F5F9"/>
                </a:solidFill>
                <a:latin typeface="Calibri"/>
              </a:defRPr>
            </a:pPr>
            <a:r>
              <a:t>• Pokud zjistíte, že dodavatel GPAI neplní své povinnosti — nahlaste Martinu Haynesovi, který eskaluje na dodavatele</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Automation bias — největší praktické riziko</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Automation bias = tendence nekriticky přijímat výstupy AI jen proto, že je vygeneroval počítač</a:t>
            </a:r>
          </a:p>
          <a:p>
            <a:pPr>
              <a:spcAft>
                <a:spcPts val="800"/>
              </a:spcAft>
              <a:defRPr sz="1400">
                <a:solidFill>
                  <a:srgbClr val="F1F5F9"/>
                </a:solidFill>
                <a:latin typeface="Calibri"/>
              </a:defRPr>
            </a:pPr>
            <a:r>
              <a:t>• AI halucinuje — generuje přesvědčivé, ale fakticky nepravdivé informace s plnou sebejistotou</a:t>
            </a:r>
          </a:p>
          <a:p>
            <a:pPr>
              <a:spcAft>
                <a:spcPts val="800"/>
              </a:spcAft>
              <a:defRPr sz="1400">
                <a:solidFill>
                  <a:srgbClr val="F1F5F9"/>
                </a:solidFill>
                <a:latin typeface="Calibri"/>
              </a:defRPr>
            </a:pPr>
            <a:r>
              <a:t>• Právní služby: AI vygeneruje citaci neexistujícího rozsudku — právník ji použije v podání soudu</a:t>
            </a:r>
          </a:p>
          <a:p>
            <a:pPr>
              <a:spcAft>
                <a:spcPts val="800"/>
              </a:spcAft>
              <a:defRPr sz="1400">
                <a:solidFill>
                  <a:srgbClr val="F1F5F9"/>
                </a:solidFill>
                <a:latin typeface="Calibri"/>
              </a:defRPr>
            </a:pPr>
            <a:r>
              <a:t>• Účetnictví: AI navrhne daňový odpočet, který v ČR neexistuje — účetní ho zahrne do přiznání</a:t>
            </a:r>
          </a:p>
          <a:p>
            <a:pPr>
              <a:spcAft>
                <a:spcPts val="800"/>
              </a:spcAft>
              <a:defRPr sz="1400">
                <a:solidFill>
                  <a:srgbClr val="F1F5F9"/>
                </a:solidFill>
                <a:latin typeface="Calibri"/>
              </a:defRPr>
            </a:pPr>
            <a:r>
              <a:t>• HR: AI doporučí zamítnutí kandidáta na základě biasovaného datasetu — HR přijme bez přezkumu</a:t>
            </a:r>
          </a:p>
          <a:p>
            <a:pPr>
              <a:spcAft>
                <a:spcPts val="800"/>
              </a:spcAft>
              <a:defRPr sz="1400">
                <a:solidFill>
                  <a:srgbClr val="F1F5F9"/>
                </a:solidFill>
                <a:latin typeface="Calibri"/>
              </a:defRPr>
            </a:pPr>
            <a:r>
              <a:t>• Zdravotnictví: AI diagnostický nástroj navrhne nesprávnou diagnózu — lékař ji přijme bez ověření</a:t>
            </a:r>
          </a:p>
          <a:p>
            <a:pPr>
              <a:spcAft>
                <a:spcPts val="800"/>
              </a:spcAft>
              <a:defRPr sz="1400">
                <a:solidFill>
                  <a:srgbClr val="F1F5F9"/>
                </a:solidFill>
                <a:latin typeface="Calibri"/>
              </a:defRPr>
            </a:pPr>
            <a:r>
              <a:t>• E-shop: AI nastaví cenu produktu na 0 Kč nebo 10 000x vyšší — nikdo to nezachytí</a:t>
            </a:r>
          </a:p>
          <a:p>
            <a:pPr>
              <a:spcAft>
                <a:spcPts val="800"/>
              </a:spcAft>
              <a:defRPr sz="1400">
                <a:solidFill>
                  <a:srgbClr val="F1F5F9"/>
                </a:solidFill>
                <a:latin typeface="Calibri"/>
              </a:defRPr>
            </a:pPr>
            <a:r>
              <a:t>• Stavebnictví: AI navrhne statický výpočet s chybou — projektant ho převezme bez kontroly</a:t>
            </a:r>
          </a:p>
          <a:p>
            <a:pPr>
              <a:spcAft>
                <a:spcPts val="800"/>
              </a:spcAft>
              <a:defRPr sz="1400">
                <a:solidFill>
                  <a:srgbClr val="F1F5F9"/>
                </a:solidFill>
                <a:latin typeface="Calibri"/>
              </a:defRPr>
            </a:pPr>
            <a:r>
              <a:t>• Doprava: AI optimalizuje trasu přes uzavřenou silnici — řidič ji slepě následuje</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Bezpečné používání AI — 5 zlatých pravidel</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600">
                <a:solidFill>
                  <a:srgbClr val="F1F5F9"/>
                </a:solidFill>
                <a:latin typeface="Calibri"/>
              </a:defRPr>
            </a:pPr>
            <a:r>
              <a:t>• PRAVIDLO 1 — ŽÁDNÉ OSOBNÍ ÚDAJE: Nikdy nevkládejte do AI jména, rodná čísla, adresy, zdravotní záznamy klientů, pacientů, zaměstnanců ani kandidátů</a:t>
            </a:r>
          </a:p>
          <a:p>
            <a:pPr>
              <a:spcAft>
                <a:spcPts val="800"/>
              </a:spcAft>
              <a:defRPr sz="1600">
                <a:solidFill>
                  <a:srgbClr val="F1F5F9"/>
                </a:solidFill>
                <a:latin typeface="Calibri"/>
              </a:defRPr>
            </a:pPr>
            <a:r>
              <a:t>• PRAVIDLO 2 — ŽÁDNÁ TAJEMSTVÍ: Nikdy nevkládejte hesla, API klíče, interní smlouvy, NDA nebo obchodní tajemství</a:t>
            </a:r>
          </a:p>
          <a:p>
            <a:pPr>
              <a:spcAft>
                <a:spcPts val="800"/>
              </a:spcAft>
              <a:defRPr sz="1600">
                <a:solidFill>
                  <a:srgbClr val="F1F5F9"/>
                </a:solidFill>
                <a:latin typeface="Calibri"/>
              </a:defRPr>
            </a:pPr>
            <a:r>
              <a:t>• PRAVIDLO 3 — VŽDY OVĚŘUJTE: Právní citace, finanční čísla, zdravotní doporučení, technické specifikace — ověřte z nezávislého zdroje</a:t>
            </a:r>
          </a:p>
          <a:p>
            <a:pPr>
              <a:spcAft>
                <a:spcPts val="800"/>
              </a:spcAft>
              <a:defRPr sz="1600">
                <a:solidFill>
                  <a:srgbClr val="F1F5F9"/>
                </a:solidFill>
                <a:latin typeface="Calibri"/>
              </a:defRPr>
            </a:pPr>
            <a:r>
              <a:t>• PRAVIDLO 4 — OZNAČUJTE AI OBSAH: Texty, obrázky, videa a hlasové záznamy vytvořené AI označte před sdílením s klienty nebo zveřejněním</a:t>
            </a:r>
          </a:p>
          <a:p>
            <a:pPr>
              <a:spcAft>
                <a:spcPts val="800"/>
              </a:spcAft>
              <a:defRPr sz="1600">
                <a:solidFill>
                  <a:srgbClr val="F1F5F9"/>
                </a:solidFill>
                <a:latin typeface="Calibri"/>
              </a:defRPr>
            </a:pPr>
            <a:r>
              <a:t>• PRAVIDLO 5 — PŘI POCHYBNOSTECH SE PTEJTE: Nejste si jisti, zda data smíte vložit do AI? Zeptejte se Martina Haynese — raději se zeptejte, než to udělejte a litujete</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AI a GDPR — dvojitá ochrana</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AI zpracovávající osobní údaje podléhá souběžně GDPR i AI Act</a:t>
            </a:r>
          </a:p>
          <a:p>
            <a:pPr>
              <a:spcAft>
                <a:spcPts val="800"/>
              </a:spcAft>
              <a:defRPr sz="1400">
                <a:solidFill>
                  <a:srgbClr val="F1F5F9"/>
                </a:solidFill>
                <a:latin typeface="Calibri"/>
              </a:defRPr>
            </a:pPr>
            <a:r>
              <a:t>• Naše firma zpracovává osobní údaje přes AI — to znamená zvýšené povinnosti</a:t>
            </a:r>
          </a:p>
          <a:p>
            <a:pPr>
              <a:spcAft>
                <a:spcPts val="800"/>
              </a:spcAft>
              <a:defRPr sz="1400">
                <a:solidFill>
                  <a:srgbClr val="F1F5F9"/>
                </a:solidFill>
                <a:latin typeface="Calibri"/>
              </a:defRPr>
            </a:pPr>
            <a:r>
              <a:t>• Právní základ pro zpracování (souhlas, oprávněný zájem, plnění smlouvy) musí existovat pro každý AI systém</a:t>
            </a:r>
          </a:p>
          <a:p>
            <a:pPr>
              <a:spcAft>
                <a:spcPts val="800"/>
              </a:spcAft>
              <a:defRPr sz="1400">
                <a:solidFill>
                  <a:srgbClr val="F1F5F9"/>
                </a:solidFill>
                <a:latin typeface="Calibri"/>
              </a:defRPr>
            </a:pPr>
            <a:r>
              <a:t>• Právo na vysvětlení automatizovaného rozhodnutí: čl. 22 GDPR + čl. 26 odst. 6 AI Act — klient nebo zaměstnanec má právo vědět, proč AI rozhodlo tak, jak rozhodlo</a:t>
            </a:r>
          </a:p>
          <a:p>
            <a:pPr>
              <a:spcAft>
                <a:spcPts val="800"/>
              </a:spcAft>
              <a:defRPr sz="1400">
                <a:solidFill>
                  <a:srgbClr val="F1F5F9"/>
                </a:solidFill>
                <a:latin typeface="Calibri"/>
              </a:defRPr>
            </a:pPr>
            <a:r>
              <a:t>• Čl. 50 odst. 3 AI Act: dotčené osoby mají právo na vysvětlení výstupu high-risk AI systému</a:t>
            </a:r>
          </a:p>
          <a:p>
            <a:pPr>
              <a:spcAft>
                <a:spcPts val="800"/>
              </a:spcAft>
              <a:defRPr sz="1400">
                <a:solidFill>
                  <a:srgbClr val="F1F5F9"/>
                </a:solidFill>
                <a:latin typeface="Calibri"/>
              </a:defRPr>
            </a:pPr>
            <a:r>
              <a:t>• DPIA (posouzení vlivu na ochranu osobních údajů) povinné pro AI s vysokým rizikem — naše firma má 17 high-risk systémů</a:t>
            </a:r>
          </a:p>
          <a:p>
            <a:pPr>
              <a:spcAft>
                <a:spcPts val="800"/>
              </a:spcAft>
              <a:defRPr sz="1400">
                <a:solidFill>
                  <a:srgbClr val="F1F5F9"/>
                </a:solidFill>
                <a:latin typeface="Calibri"/>
              </a:defRPr>
            </a:pPr>
            <a:r>
              <a:t>• Minimalizace dat: do AI vkládejte jen data nezbytně nutná pro daný účel</a:t>
            </a:r>
          </a:p>
          <a:p>
            <a:pPr>
              <a:spcAft>
                <a:spcPts val="800"/>
              </a:spcAft>
              <a:defRPr sz="1400">
                <a:solidFill>
                  <a:srgbClr val="F1F5F9"/>
                </a:solidFill>
                <a:latin typeface="Calibri"/>
              </a:defRPr>
            </a:pPr>
            <a:r>
              <a:t>• Přenos dat mimo EU: ověřte, kde jsou data AI systémů fyzicky uložena — pro přenos mimo EU jsou nutné standardní smluvní doložky (SCC)</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Transparentnost — co musíme oznámit zákazníkům</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600">
                <a:solidFill>
                  <a:srgbClr val="F1F5F9"/>
                </a:solidFill>
                <a:latin typeface="Calibri"/>
              </a:defRPr>
            </a:pPr>
            <a:r>
              <a:t>• Čl. 50 odst. 1 AI Act: uživatel musí vědět, že komunikuje s AI — platí od 2. 2. 2025</a:t>
            </a:r>
          </a:p>
          <a:p>
            <a:pPr>
              <a:spcAft>
                <a:spcPts val="800"/>
              </a:spcAft>
              <a:defRPr sz="1600">
                <a:solidFill>
                  <a:srgbClr val="F1F5F9"/>
                </a:solidFill>
                <a:latin typeface="Calibri"/>
              </a:defRPr>
            </a:pPr>
            <a:r>
              <a:t>• Google Gemini Chatbot a AI Chatbot na webu — musí být viditelně označeny jako AI</a:t>
            </a:r>
          </a:p>
          <a:p>
            <a:pPr>
              <a:spcAft>
                <a:spcPts val="800"/>
              </a:spcAft>
              <a:defRPr sz="1600">
                <a:solidFill>
                  <a:srgbClr val="F1F5F9"/>
                </a:solidFill>
                <a:latin typeface="Calibri"/>
              </a:defRPr>
            </a:pPr>
            <a:r>
              <a:t>• Freshdesk AI, Zendesk AI, Intercom: automatické odpovědi musí obsahovat označení „Tato odpověď byla vytvořena nebo navržena umělou inteligencí"</a:t>
            </a:r>
          </a:p>
          <a:p>
            <a:pPr>
              <a:spcAft>
                <a:spcPts val="800"/>
              </a:spcAft>
              <a:defRPr sz="1600">
                <a:solidFill>
                  <a:srgbClr val="F1F5F9"/>
                </a:solidFill>
                <a:latin typeface="Calibri"/>
              </a:defRPr>
            </a:pPr>
            <a:r>
              <a:t>• Čl. 50 odst. 2: AI-generovaný syntetický obsah (obrázky z DALL-E/Midjourney, videa z HeyGen/Synthesia, hlas z ElevenLabs) musí být označen jako syntetický s metadaty o AI původu</a:t>
            </a:r>
          </a:p>
          <a:p>
            <a:pPr>
              <a:spcAft>
                <a:spcPts val="800"/>
              </a:spcAft>
              <a:defRPr sz="1600">
                <a:solidFill>
                  <a:srgbClr val="F1F5F9"/>
                </a:solidFill>
                <a:latin typeface="Calibri"/>
              </a:defRPr>
            </a:pPr>
            <a:r>
              <a:t>• Transparenční stránka na webu s přehledem AI systémů — připravena v Compliance Kitu</a:t>
            </a:r>
          </a:p>
          <a:p>
            <a:pPr>
              <a:spcAft>
                <a:spcPts val="800"/>
              </a:spcAft>
              <a:defRPr sz="1600">
                <a:solidFill>
                  <a:srgbClr val="F1F5F9"/>
                </a:solidFill>
                <a:latin typeface="Calibri"/>
              </a:defRPr>
            </a:pPr>
            <a:r>
              <a:t>• Náš web již splňuje čl. 50 — AI Transparency Notice je aktivně nasazeno</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Role firmy — nasazovatel vs. poskytovatel</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600">
                <a:solidFill>
                  <a:srgbClr val="F1F5F9"/>
                </a:solidFill>
                <a:latin typeface="Calibri"/>
              </a:defRPr>
            </a:pPr>
            <a:r>
              <a:t>• Naše firma vystupuje v obou rolích — to zdvojuje naše povinnosti</a:t>
            </a:r>
          </a:p>
          <a:p>
            <a:pPr>
              <a:spcAft>
                <a:spcPts val="800"/>
              </a:spcAft>
              <a:defRPr sz="1600">
                <a:solidFill>
                  <a:srgbClr val="F1F5F9"/>
                </a:solidFill>
                <a:latin typeface="Calibri"/>
              </a:defRPr>
            </a:pPr>
            <a:r>
              <a:t>• Nasazovatel (deployer, čl. 26): Používáme AI vyvinuté jinými — ChatGPT, Gemini, Freshdesk AI, CRIF, LinkedIn Recruiter AI. Povinnosti: transparentnost, lidský dohled, monitoring, školení, uchovávání logů min. 6 měsíců (čl. 19 odst. 1)</a:t>
            </a:r>
          </a:p>
          <a:p>
            <a:pPr>
              <a:spcAft>
                <a:spcPts val="800"/>
              </a:spcAft>
              <a:defRPr sz="1600">
                <a:solidFill>
                  <a:srgbClr val="F1F5F9"/>
                </a:solidFill>
                <a:latin typeface="Calibri"/>
              </a:defRPr>
            </a:pPr>
            <a:r>
              <a:t>• Poskytovatel (provider, čl. 16–18): Vyvíjíme vlastní AI systémy nebo podstatně upravujeme existující. Povinnosti: technická dokumentace (Příloha IV), posouzení shody, CE označení (čl. 48), registrace v EU databázi (čl. 49), prohlášení o shodě (čl. 47)</a:t>
            </a:r>
          </a:p>
          <a:p>
            <a:pPr>
              <a:spcAft>
                <a:spcPts val="800"/>
              </a:spcAft>
              <a:defRPr sz="1600">
                <a:solidFill>
                  <a:srgbClr val="F1F5F9"/>
                </a:solidFill>
                <a:latin typeface="Calibri"/>
              </a:defRPr>
            </a:pPr>
            <a:r>
              <a:t>• Podstatná úprava AI systému (čl. 25): pokud výrazně změníme existující AI systém, přebíráme povinnosti poskytovatele — včetně posouzení shody</a:t>
            </a:r>
          </a:p>
          <a:p>
            <a:pPr>
              <a:spcAft>
                <a:spcPts val="800"/>
              </a:spcAft>
              <a:defRPr sz="1600">
                <a:solidFill>
                  <a:srgbClr val="F1F5F9"/>
                </a:solidFill>
                <a:latin typeface="Calibri"/>
              </a:defRPr>
            </a:pPr>
            <a:r>
              <a:t>• Dodavatelé GPAI (OpenAI, Google, Anthropic) mají vlastní povinnosti dle čl. 53 — my musíme ověřit jejich splnění</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Lidský dohled nad AI — vaše právo i povinnost</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Čl. 14 AI Act: high-risk AI systémy musí umožnit efektivní lidský dohled</a:t>
            </a:r>
          </a:p>
          <a:p>
            <a:pPr>
              <a:spcAft>
                <a:spcPts val="800"/>
              </a:spcAft>
              <a:defRPr sz="1400">
                <a:solidFill>
                  <a:srgbClr val="F1F5F9"/>
                </a:solidFill>
                <a:latin typeface="Calibri"/>
              </a:defRPr>
            </a:pPr>
            <a:r>
              <a:t>• Čl. 14 odst. 4 písm. d): zaměstnanci mají právo a povinnost rozhodnutí AI nepoužít, přepsat nebo zrušit</a:t>
            </a:r>
          </a:p>
          <a:p>
            <a:pPr>
              <a:spcAft>
                <a:spcPts val="800"/>
              </a:spcAft>
              <a:defRPr sz="1400">
                <a:solidFill>
                  <a:srgbClr val="F1F5F9"/>
                </a:solidFill>
                <a:latin typeface="Calibri"/>
              </a:defRPr>
            </a:pPr>
            <a:r>
              <a:t>• Naše firma má nastaven override AI: ANO — každý zaměstnanec může přepsat rozhodnutí AI</a:t>
            </a:r>
          </a:p>
          <a:p>
            <a:pPr>
              <a:spcAft>
                <a:spcPts val="800"/>
              </a:spcAft>
              <a:defRPr sz="1400">
                <a:solidFill>
                  <a:srgbClr val="F1F5F9"/>
                </a:solidFill>
                <a:latin typeface="Calibri"/>
              </a:defRPr>
            </a:pPr>
            <a:r>
              <a:t>• HR: AI doporučí zamítnout kandidáta — HR manažer musí rozhodnutí přezkoumat a případně přepsat</a:t>
            </a:r>
          </a:p>
          <a:p>
            <a:pPr>
              <a:spcAft>
                <a:spcPts val="800"/>
              </a:spcAft>
              <a:defRPr sz="1400">
                <a:solidFill>
                  <a:srgbClr val="F1F5F9"/>
                </a:solidFill>
                <a:latin typeface="Calibri"/>
              </a:defRPr>
            </a:pPr>
            <a:r>
              <a:t>• Kreditní scoring: AI navrhne zamítnutí úvěru — odpovědný pracovník musí mít možnost přezkumu</a:t>
            </a:r>
          </a:p>
          <a:p>
            <a:pPr>
              <a:spcAft>
                <a:spcPts val="800"/>
              </a:spcAft>
              <a:defRPr sz="1400">
                <a:solidFill>
                  <a:srgbClr val="F1F5F9"/>
                </a:solidFill>
                <a:latin typeface="Calibri"/>
              </a:defRPr>
            </a:pPr>
            <a:r>
              <a:t>• Pojišťovnictví: AI navrhne výši plnění — pojistný specialista musí mít možnost ověřit a upravit</a:t>
            </a:r>
          </a:p>
          <a:p>
            <a:pPr>
              <a:spcAft>
                <a:spcPts val="800"/>
              </a:spcAft>
              <a:defRPr sz="1400">
                <a:solidFill>
                  <a:srgbClr val="F1F5F9"/>
                </a:solidFill>
                <a:latin typeface="Calibri"/>
              </a:defRPr>
            </a:pPr>
            <a:r>
              <a:t>• E-shop: AI nastaví dynamickou cenu — odpovědný pracovník kontroluje, zda necílí na zranitelné skupiny</a:t>
            </a:r>
          </a:p>
          <a:p>
            <a:pPr>
              <a:spcAft>
                <a:spcPts val="800"/>
              </a:spcAft>
              <a:defRPr sz="1400">
                <a:solidFill>
                  <a:srgbClr val="F1F5F9"/>
                </a:solidFill>
                <a:latin typeface="Calibri"/>
              </a:defRPr>
            </a:pPr>
            <a:r>
              <a:t>• Nikdy nepřijímejte rozhodnutí AI jako konečné tam, kde jsou dotčena práva lidí</a:t>
            </a:r>
          </a:p>
          <a:p>
            <a:pPr>
              <a:spcAft>
                <a:spcPts val="800"/>
              </a:spcAft>
              <a:defRPr sz="1400">
                <a:solidFill>
                  <a:srgbClr val="F1F5F9"/>
                </a:solidFill>
                <a:latin typeface="Calibri"/>
              </a:defRPr>
            </a:pPr>
            <a:r>
              <a:t>• Eskalační postup: pokud si nejste jisti → eskalujte na Martina Haynese</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Hlášení AI incidentů — postup krok za krokem</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Co je AI incident: AI způsobil nebo mohl způsobit škodu — chybné rozhodnutí, únik dat, diskriminační výstup, halucinace s dopadem na klienta</a:t>
            </a:r>
          </a:p>
          <a:p>
            <a:pPr>
              <a:spcAft>
                <a:spcPts val="800"/>
              </a:spcAft>
              <a:defRPr sz="1400">
                <a:solidFill>
                  <a:srgbClr val="F1F5F9"/>
                </a:solidFill>
                <a:latin typeface="Calibri"/>
              </a:defRPr>
            </a:pPr>
            <a:r>
              <a:t>• Příklady: AI scoring zamítl žádost na základě chybných dat; AI monitoring zaznamenal soukromou komunikaci; AI chatbot poskytl zdravotně nebezpečnou radu; AI nastavil nesmyslnou cenu</a:t>
            </a:r>
          </a:p>
          <a:p>
            <a:pPr>
              <a:spcAft>
                <a:spcPts val="800"/>
              </a:spcAft>
              <a:defRPr sz="1400">
                <a:solidFill>
                  <a:srgbClr val="F1F5F9"/>
                </a:solidFill>
                <a:latin typeface="Calibri"/>
              </a:defRPr>
            </a:pPr>
            <a:r>
              <a:t>• Krok 1 — ZASTAVIT: Přestaňte používat daný AI systém pro daný případ</a:t>
            </a:r>
          </a:p>
          <a:p>
            <a:pPr>
              <a:spcAft>
                <a:spcPts val="800"/>
              </a:spcAft>
              <a:defRPr sz="1400">
                <a:solidFill>
                  <a:srgbClr val="F1F5F9"/>
                </a:solidFill>
                <a:latin typeface="Calibri"/>
              </a:defRPr>
            </a:pPr>
            <a:r>
              <a:t>• Krok 2 — DOKUMENTOVAT: Zapište co se stalo, kdy, v jakém systému, jaký byl výstup AI a jaký byl dopad. Použijte „Formulář hlášení AI incidentu" v interním systému (součást Compliance Kitu)</a:t>
            </a:r>
          </a:p>
          <a:p>
            <a:pPr>
              <a:spcAft>
                <a:spcPts val="800"/>
              </a:spcAft>
              <a:defRPr sz="1400">
                <a:solidFill>
                  <a:srgbClr val="F1F5F9"/>
                </a:solidFill>
                <a:latin typeface="Calibri"/>
              </a:defRPr>
            </a:pPr>
            <a:r>
              <a:t>• Krok 3 — NAHLÁSIT: Okamžitě informujte Martina Haynese jako odpovědnou osobu za AI</a:t>
            </a:r>
          </a:p>
          <a:p>
            <a:pPr>
              <a:spcAft>
                <a:spcPts val="800"/>
              </a:spcAft>
              <a:defRPr sz="1400">
                <a:solidFill>
                  <a:srgbClr val="F1F5F9"/>
                </a:solidFill>
                <a:latin typeface="Calibri"/>
              </a:defRPr>
            </a:pPr>
            <a:r>
              <a:t>• Čl. 73 odst. 1 AI Act: závažné incidenty nahlásit dozorové autoritě do 15 dní od zjištění</a:t>
            </a:r>
          </a:p>
          <a:p>
            <a:pPr>
              <a:spcAft>
                <a:spcPts val="800"/>
              </a:spcAft>
              <a:defRPr sz="1400">
                <a:solidFill>
                  <a:srgbClr val="F1F5F9"/>
                </a:solidFill>
                <a:latin typeface="Calibri"/>
              </a:defRPr>
            </a:pPr>
            <a:r>
              <a:t>• Dozorový orgán v ČR: Úřad pro ochranu osobních údajů (ÚOOÚ) jako koordinační orgán</a:t>
            </a:r>
          </a:p>
          <a:p>
            <a:pPr>
              <a:spcAft>
                <a:spcPts val="800"/>
              </a:spcAft>
              <a:defRPr sz="1400">
                <a:solidFill>
                  <a:srgbClr val="F1F5F9"/>
                </a:solidFill>
                <a:latin typeface="Calibri"/>
              </a:defRPr>
            </a:pPr>
            <a:r>
              <a:t>• Automaticky generované logy AI systémů uchovávat minimálně 6 měsíců (čl. 19 odst. 1 AI Act)</a:t>
            </a:r>
          </a:p>
          <a:p>
            <a:pPr>
              <a:spcAft>
                <a:spcPts val="800"/>
              </a:spcAft>
              <a:defRPr sz="1400">
                <a:solidFill>
                  <a:srgbClr val="F1F5F9"/>
                </a:solidFill>
                <a:latin typeface="Calibri"/>
              </a:defRPr>
            </a:pPr>
            <a:r>
              <a:t>• Detailní plán řízení incidentů — součást Compliance Kitu</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Naše povinnosti — stav plnění</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200">
                <a:solidFill>
                  <a:srgbClr val="F1F5F9"/>
                </a:solidFill>
                <a:latin typeface="Calibri"/>
              </a:defRPr>
            </a:pPr>
            <a:r>
              <a:t>• Povinnost | Zákonný základ | Stav</a:t>
            </a:r>
          </a:p>
          <a:p>
            <a:pPr>
              <a:spcAft>
                <a:spcPts val="800"/>
              </a:spcAft>
              <a:defRPr sz="1200">
                <a:solidFill>
                  <a:srgbClr val="F1F5F9"/>
                </a:solidFill>
                <a:latin typeface="Calibri"/>
              </a:defRPr>
            </a:pPr>
            <a:r>
              <a:t>• AI gramotnost zaměstnanců | Čl. 4 AI Act | Plněno — toto školení</a:t>
            </a:r>
          </a:p>
          <a:p>
            <a:pPr>
              <a:spcAft>
                <a:spcPts val="800"/>
              </a:spcAft>
              <a:defRPr sz="1200">
                <a:solidFill>
                  <a:srgbClr val="F1F5F9"/>
                </a:solidFill>
                <a:latin typeface="Calibri"/>
              </a:defRPr>
            </a:pPr>
            <a:r>
              <a:t>• Registr AI systémů | Čl. 26 AI Act | Plněno — Compliance Kit</a:t>
            </a:r>
          </a:p>
          <a:p>
            <a:pPr>
              <a:spcAft>
                <a:spcPts val="800"/>
              </a:spcAft>
              <a:defRPr sz="1200">
                <a:solidFill>
                  <a:srgbClr val="F1F5F9"/>
                </a:solidFill>
                <a:latin typeface="Calibri"/>
              </a:defRPr>
            </a:pPr>
            <a:r>
              <a:t>• Transparentnost chatbotů a syntetického obsahu | Čl. 50 odst. 1 a 2 AI Act | Plněno — Compliance Kit</a:t>
            </a:r>
          </a:p>
          <a:p>
            <a:pPr>
              <a:spcAft>
                <a:spcPts val="800"/>
              </a:spcAft>
              <a:defRPr sz="1200">
                <a:solidFill>
                  <a:srgbClr val="F1F5F9"/>
                </a:solidFill>
                <a:latin typeface="Calibri"/>
              </a:defRPr>
            </a:pPr>
            <a:r>
              <a:t>• Interní AI politika | Čl. 26 AI Act | Plněno — Compliance Kit</a:t>
            </a:r>
          </a:p>
          <a:p>
            <a:pPr>
              <a:spcAft>
                <a:spcPts val="800"/>
              </a:spcAft>
              <a:defRPr sz="1200">
                <a:solidFill>
                  <a:srgbClr val="F1F5F9"/>
                </a:solidFill>
                <a:latin typeface="Calibri"/>
              </a:defRPr>
            </a:pPr>
            <a:r>
              <a:t>• Plán řízení incidentů | Čl. 73 AI Act | Plněno — Compliance Kit</a:t>
            </a:r>
          </a:p>
          <a:p>
            <a:pPr>
              <a:spcAft>
                <a:spcPts val="800"/>
              </a:spcAft>
              <a:defRPr sz="1200">
                <a:solidFill>
                  <a:srgbClr val="F1F5F9"/>
                </a:solidFill>
                <a:latin typeface="Calibri"/>
              </a:defRPr>
            </a:pPr>
            <a:r>
              <a:t>• Smlouvy s dodavateli AI (DPA/SLA) | GDPR čl. 28, AI Act čl. 26 | Plněno — dodavatelský checklist</a:t>
            </a:r>
          </a:p>
          <a:p>
            <a:pPr>
              <a:spcAft>
                <a:spcPts val="800"/>
              </a:spcAft>
              <a:defRPr sz="1200">
                <a:solidFill>
                  <a:srgbClr val="F1F5F9"/>
                </a:solidFill>
                <a:latin typeface="Calibri"/>
              </a:defRPr>
            </a:pPr>
            <a:r>
              <a:t>• AI logging a audit trail (min. 6 měsíců) | Čl. 19 odst. 1 AI Act | Plněno — monitoring plán</a:t>
            </a:r>
          </a:p>
          <a:p>
            <a:pPr>
              <a:spcAft>
                <a:spcPts val="800"/>
              </a:spcAft>
              <a:defRPr sz="1200">
                <a:solidFill>
                  <a:srgbClr val="F1F5F9"/>
                </a:solidFill>
                <a:latin typeface="Calibri"/>
              </a:defRPr>
            </a:pPr>
            <a:r>
              <a:t>• Posouzení shody 17 high-risk systémů | Čl. 43, Příloha III AI Act | Vyžaduje akci — do 2. 8. 2026</a:t>
            </a:r>
          </a:p>
          <a:p>
            <a:pPr>
              <a:spcAft>
                <a:spcPts val="800"/>
              </a:spcAft>
              <a:defRPr sz="1200">
                <a:solidFill>
                  <a:srgbClr val="F1F5F9"/>
                </a:solidFill>
                <a:latin typeface="Calibri"/>
              </a:defRPr>
            </a:pPr>
            <a:r>
              <a:t>• FRIA + DPIA pro high-risk AI systémy | Čl. 27 AI Act, GDPR čl. 35 | Vyžaduje akci — do 2. 8. 2026</a:t>
            </a:r>
          </a:p>
          <a:p>
            <a:pPr>
              <a:spcAft>
                <a:spcPts val="800"/>
              </a:spcAft>
              <a:defRPr sz="1200">
                <a:solidFill>
                  <a:srgbClr val="F1F5F9"/>
                </a:solidFill>
                <a:latin typeface="Calibri"/>
              </a:defRPr>
            </a:pPr>
            <a:r>
              <a:t>• Audit systémů „vlastní html" a „vlastní kód" | Čl. 5 AI Act | Okamžitá priorita — právní audit</a:t>
            </a:r>
          </a:p>
          <a:p>
            <a:pPr>
              <a:spcAft>
                <a:spcPts val="800"/>
              </a:spcAft>
              <a:defRPr sz="1200">
                <a:solidFill>
                  <a:srgbClr val="F1F5F9"/>
                </a:solidFill>
                <a:latin typeface="Calibri"/>
              </a:defRPr>
            </a:pPr>
            <a:r>
              <a:t>• Registrace kritické infrastruktury (pospa ing.) u NÚKIB | Čl. 49 odst. 4 AI Act | Vyžaduje akci — do 2. 8. 2026</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Praktické scénáře — jak byste reagovali?</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Scénář 1 — Zdravotnictví: AI diagnostický nástroj navrhne diagnózu, která se vám zdá nepravděpodobná. → Ověřte z nezávislého zdroje, konzultujte s kolegou, zdokumentujte přezkum.</a:t>
            </a:r>
          </a:p>
          <a:p>
            <a:pPr>
              <a:spcAft>
                <a:spcPts val="800"/>
              </a:spcAft>
              <a:defRPr sz="1400">
                <a:solidFill>
                  <a:srgbClr val="F1F5F9"/>
                </a:solidFill>
                <a:latin typeface="Calibri"/>
              </a:defRPr>
            </a:pPr>
            <a:r>
              <a:t>• Scénář 2 — HR: LinkedIn Recruiter AI automaticky vyřadí 80 % kandidátů. Šéf chce výsledky okamžitě. → Přezkumejte vzorek vyřazených, ověřte kritéria, zdokumentujte. Máte právo a povinnost přepsat rozhodnutí AI.</a:t>
            </a:r>
          </a:p>
          <a:p>
            <a:pPr>
              <a:spcAft>
                <a:spcPts val="800"/>
              </a:spcAft>
              <a:defRPr sz="1400">
                <a:solidFill>
                  <a:srgbClr val="F1F5F9"/>
                </a:solidFill>
                <a:latin typeface="Calibri"/>
              </a:defRPr>
            </a:pPr>
            <a:r>
              <a:t>• Scénář 3 — Zákaznická podpora: Zendesk AI odpoví zákazníkovi s nesprávnou cenou. → Opravte informaci, nahlaste incident Martinu Haynesovi přes formulář, zdokumentujte.</a:t>
            </a:r>
          </a:p>
          <a:p>
            <a:pPr>
              <a:spcAft>
                <a:spcPts val="800"/>
              </a:spcAft>
              <a:defRPr sz="1400">
                <a:solidFill>
                  <a:srgbClr val="F1F5F9"/>
                </a:solidFill>
                <a:latin typeface="Calibri"/>
              </a:defRPr>
            </a:pPr>
            <a:r>
              <a:t>• Scénář 4 — Účetnictví: ChatGPT navrhne daňový odpočet. → Ověřte v zákoně nebo u daňového poradce. Nikdy nepoužijte bez ověření.</a:t>
            </a:r>
          </a:p>
          <a:p>
            <a:pPr>
              <a:spcAft>
                <a:spcPts val="800"/>
              </a:spcAft>
              <a:defRPr sz="1400">
                <a:solidFill>
                  <a:srgbClr val="F1F5F9"/>
                </a:solidFill>
                <a:latin typeface="Calibri"/>
              </a:defRPr>
            </a:pPr>
            <a:r>
              <a:t>• Scénář 5 — IT vývoj: Cursor AI navrhne kód zpracovávající osobní údaje. → Code review, ověření GDPR souladu, dokumentace použití AI.</a:t>
            </a:r>
          </a:p>
          <a:p>
            <a:pPr>
              <a:spcAft>
                <a:spcPts val="800"/>
              </a:spcAft>
              <a:defRPr sz="1400">
                <a:solidFill>
                  <a:srgbClr val="F1F5F9"/>
                </a:solidFill>
                <a:latin typeface="Calibri"/>
              </a:defRPr>
            </a:pPr>
            <a:r>
              <a:t>• Scénář 6 — E-shop: Dynamic Yield nastaví cenu 10x vyšší pro zákazníka z určité lokality. → Zkontrolujte, zda cenotvorba nediskriminuje. Nahlaste Martinu Haynesovi.</a:t>
            </a:r>
          </a:p>
          <a:p>
            <a:pPr>
              <a:spcAft>
                <a:spcPts val="800"/>
              </a:spcAft>
              <a:defRPr sz="1400">
                <a:solidFill>
                  <a:srgbClr val="F1F5F9"/>
                </a:solidFill>
                <a:latin typeface="Calibri"/>
              </a:defRPr>
            </a:pPr>
            <a:r>
              <a:t>• Scénář 7 — Doprava: AI optimalizace tras navrhne cestu přes uzavřenou oblast. → Ověřte trasu, nespoléhejte slepě na AI.</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Shrnutí — 7 věcí, které si musíte zapamatovat</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600">
                <a:solidFill>
                  <a:srgbClr val="F1F5F9"/>
                </a:solidFill>
                <a:latin typeface="Calibri"/>
              </a:defRPr>
            </a:pPr>
            <a:r>
              <a:t>• 1. AI gramotnost je zákonná povinnost — tímto školením ji plníme (čl. 4 AI Act)</a:t>
            </a:r>
          </a:p>
          <a:p>
            <a:pPr>
              <a:spcAft>
                <a:spcPts val="800"/>
              </a:spcAft>
              <a:defRPr sz="1600">
                <a:solidFill>
                  <a:srgbClr val="F1F5F9"/>
                </a:solidFill>
                <a:latin typeface="Calibri"/>
              </a:defRPr>
            </a:pPr>
            <a:r>
              <a:t>• 2. Naše firma má vysoké riziko — 17 high-risk systémů, 18 omezeného rizika, 2 systémy pod okamžitým auditem</a:t>
            </a:r>
          </a:p>
          <a:p>
            <a:pPr>
              <a:spcAft>
                <a:spcPts val="800"/>
              </a:spcAft>
              <a:defRPr sz="1600">
                <a:solidFill>
                  <a:srgbClr val="F1F5F9"/>
                </a:solidFill>
                <a:latin typeface="Calibri"/>
              </a:defRPr>
            </a:pPr>
            <a:r>
              <a:t>• 3. Zakázané praktiky platí od 2. 2. 2025 — „vlastní html" a „vlastní kód" jsou předmětem auditu</a:t>
            </a:r>
          </a:p>
          <a:p>
            <a:pPr>
              <a:spcAft>
                <a:spcPts val="800"/>
              </a:spcAft>
              <a:defRPr sz="1600">
                <a:solidFill>
                  <a:srgbClr val="F1F5F9"/>
                </a:solidFill>
                <a:latin typeface="Calibri"/>
              </a:defRPr>
            </a:pPr>
            <a:r>
              <a:t>• 4. Nikdy nevkládejte citlivá data do AI — osobní údaje, hesla, smlouvy, zdravotní záznamy</a:t>
            </a:r>
          </a:p>
          <a:p>
            <a:pPr>
              <a:spcAft>
                <a:spcPts val="800"/>
              </a:spcAft>
              <a:defRPr sz="1600">
                <a:solidFill>
                  <a:srgbClr val="F1F5F9"/>
                </a:solidFill>
                <a:latin typeface="Calibri"/>
              </a:defRPr>
            </a:pPr>
            <a:r>
              <a:t>• 5. Vždy ověřujte kritické výstupy AI — AI halucinuje, vy nesete odpovědnost</a:t>
            </a:r>
          </a:p>
          <a:p>
            <a:pPr>
              <a:spcAft>
                <a:spcPts val="800"/>
              </a:spcAft>
              <a:defRPr sz="1600">
                <a:solidFill>
                  <a:srgbClr val="F1F5F9"/>
                </a:solidFill>
                <a:latin typeface="Calibri"/>
              </a:defRPr>
            </a:pPr>
            <a:r>
              <a:t>• 6. Máte právo a povinnost přepsat rozhodnutí AI — lidský dohled je zákonný požadavek (čl. 14 AI Act)</a:t>
            </a:r>
          </a:p>
          <a:p>
            <a:pPr>
              <a:spcAft>
                <a:spcPts val="800"/>
              </a:spcAft>
              <a:defRPr sz="1600">
                <a:solidFill>
                  <a:srgbClr val="F1F5F9"/>
                </a:solidFill>
                <a:latin typeface="Calibri"/>
              </a:defRPr>
            </a:pPr>
            <a:r>
              <a:t>• 7. Při incidentu: ZASTAVIT — DOKUMENTOVAT — NAHLÁSIT Martinu Haynesovi (lhůta pro závažné incidenty: 15 dní dle čl. 73 odst. 1)</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274320"/>
            <a:ext cx="2743200" cy="457200"/>
          </a:xfrm>
          <a:prstGeom prst="rect">
            <a:avLst/>
          </a:prstGeom>
          <a:noFill/>
        </p:spPr>
        <p:txBody>
          <a:bodyPr wrap="square">
            <a:spAutoFit/>
          </a:bodyPr>
          <a:lstStyle/>
          <a:p>
            <a:pPr algn="l">
              <a:defRPr sz="1400" b="1">
                <a:solidFill>
                  <a:srgbClr val="E879F9"/>
                </a:solidFill>
                <a:latin typeface="Calibri"/>
              </a:defRPr>
            </a:pPr>
            <a:r>
              <a:t>AIshield.cz</a:t>
            </a:r>
          </a:p>
        </p:txBody>
      </p:sp>
      <p:sp>
        <p:nvSpPr>
          <p:cNvPr id="3" name="TextBox 2"/>
          <p:cNvSpPr txBox="1"/>
          <p:nvPr/>
        </p:nvSpPr>
        <p:spPr>
          <a:xfrm>
            <a:off x="7315200" y="182880"/>
            <a:ext cx="4572000" cy="548640"/>
          </a:xfrm>
          <a:prstGeom prst="rect">
            <a:avLst/>
          </a:prstGeom>
          <a:noFill/>
        </p:spPr>
        <p:txBody>
          <a:bodyPr wrap="square">
            <a:spAutoFit/>
          </a:bodyPr>
          <a:lstStyle/>
          <a:p>
            <a:pPr algn="r">
              <a:defRPr sz="1100" b="0">
                <a:solidFill>
                  <a:srgbClr val="94A3B8"/>
                </a:solidFill>
                <a:latin typeface="Calibri"/>
              </a:defRPr>
            </a:pPr>
            <a:r>
              <a:t>Martin Haynes  •  Martin Haynes</a:t>
            </a:r>
          </a:p>
        </p:txBody>
      </p:sp>
      <p:sp>
        <p:nvSpPr>
          <p:cNvPr id="4" name="Rectangle 3"/>
          <p:cNvSpPr/>
          <p:nvPr/>
        </p:nvSpPr>
        <p:spPr>
          <a:xfrm>
            <a:off x="548640" y="777240"/>
            <a:ext cx="1828800" cy="36576"/>
          </a:xfrm>
          <a:prstGeom prst="rect">
            <a:avLst/>
          </a:prstGeom>
          <a:solidFill>
            <a:srgbClr val="E87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005840"/>
            <a:ext cx="10058400" cy="731520"/>
          </a:xfrm>
          <a:prstGeom prst="rect">
            <a:avLst/>
          </a:prstGeom>
          <a:noFill/>
        </p:spPr>
        <p:txBody>
          <a:bodyPr wrap="square">
            <a:spAutoFit/>
          </a:bodyPr>
          <a:lstStyle/>
          <a:p>
            <a:pPr algn="l">
              <a:defRPr sz="2800" b="1">
                <a:solidFill>
                  <a:srgbClr val="F1F5F9"/>
                </a:solidFill>
                <a:latin typeface="Calibri"/>
              </a:defRPr>
            </a:pPr>
            <a:r>
              <a:t>Další kroky a kontakty</a:t>
            </a:r>
          </a:p>
        </p:txBody>
      </p:sp>
      <p:sp>
        <p:nvSpPr>
          <p:cNvPr id="6" name="TextBox 5"/>
          <p:cNvSpPr txBox="1"/>
          <p:nvPr/>
        </p:nvSpPr>
        <p:spPr>
          <a:xfrm>
            <a:off x="731520" y="2011680"/>
            <a:ext cx="10058400" cy="4114800"/>
          </a:xfrm>
          <a:prstGeom prst="rect">
            <a:avLst/>
          </a:prstGeom>
          <a:noFill/>
        </p:spPr>
        <p:txBody>
          <a:bodyPr wrap="square">
            <a:spAutoFit/>
          </a:bodyPr>
          <a:lstStyle/>
          <a:p>
            <a:pPr>
              <a:spcAft>
                <a:spcPts val="800"/>
              </a:spcAft>
              <a:defRPr sz="1400">
                <a:solidFill>
                  <a:srgbClr val="F1F5F9"/>
                </a:solidFill>
                <a:latin typeface="Calibri"/>
              </a:defRPr>
            </a:pPr>
            <a:r>
              <a:t>• Opakování školení: minimálně jednou ročně + mimořádné školení při nasazení nového high-risk AI systému nebo podstatné změně existujícího (čl. 25 AI Act)</a:t>
            </a:r>
          </a:p>
          <a:p>
            <a:pPr>
              <a:spcAft>
                <a:spcPts val="800"/>
              </a:spcAft>
              <a:defRPr sz="1400">
                <a:solidFill>
                  <a:srgbClr val="F1F5F9"/>
                </a:solidFill>
                <a:latin typeface="Calibri"/>
              </a:defRPr>
            </a:pPr>
            <a:r>
              <a:t>• Nový AI nástroj? Vyplňte „Žádost o schválení AI nástroje" v interním systému — Martin Haynes schválí nebo zamítne. Žádný neschválený AI nástroj nesmí být nasazen.</a:t>
            </a:r>
          </a:p>
          <a:p>
            <a:pPr>
              <a:spcAft>
                <a:spcPts val="800"/>
              </a:spcAft>
              <a:defRPr sz="1400">
                <a:solidFill>
                  <a:srgbClr val="F1F5F9"/>
                </a:solidFill>
                <a:latin typeface="Calibri"/>
              </a:defRPr>
            </a:pPr>
            <a:r>
              <a:t>• Problém s AI? Použijte „Formulář hlášení AI incidentu" v interním systému a kontaktujte Martina Haynese</a:t>
            </a:r>
          </a:p>
          <a:p>
            <a:pPr>
              <a:spcAft>
                <a:spcPts val="800"/>
              </a:spcAft>
              <a:defRPr sz="1400">
                <a:solidFill>
                  <a:srgbClr val="F1F5F9"/>
                </a:solidFill>
                <a:latin typeface="Calibri"/>
              </a:defRPr>
            </a:pPr>
            <a:r>
              <a:t>• Nejste si jisti, zda data smíte vložit do AI? Raději se zeptejte Martina Haynese — platí pravidlo „pokud váháte, nevkládejte"</a:t>
            </a:r>
          </a:p>
          <a:p>
            <a:pPr>
              <a:spcAft>
                <a:spcPts val="800"/>
              </a:spcAft>
              <a:defRPr sz="1400">
                <a:solidFill>
                  <a:srgbClr val="F1F5F9"/>
                </a:solidFill>
                <a:latin typeface="Calibri"/>
              </a:defRPr>
            </a:pPr>
            <a:r>
              <a:t>• Odpovědná osoba za AI: Martin Haynes, Jednatel — první kontakt pro vše týkající se AI</a:t>
            </a:r>
          </a:p>
          <a:p>
            <a:pPr>
              <a:spcAft>
                <a:spcPts val="800"/>
              </a:spcAft>
              <a:defRPr sz="1400">
                <a:solidFill>
                  <a:srgbClr val="F1F5F9"/>
                </a:solidFill>
                <a:latin typeface="Calibri"/>
              </a:defRPr>
            </a:pPr>
            <a:r>
              <a:t>• Posouzení shody high-risk systémů: zajistí vedení firmy ve spolupráci s externím konzultantem, koordinuje Martin Haynes</a:t>
            </a:r>
          </a:p>
          <a:p>
            <a:pPr>
              <a:spcAft>
                <a:spcPts val="800"/>
              </a:spcAft>
              <a:defRPr sz="1400">
                <a:solidFill>
                  <a:srgbClr val="F1F5F9"/>
                </a:solidFill>
                <a:latin typeface="Calibri"/>
              </a:defRPr>
            </a:pPr>
            <a:r>
              <a:t>• Interní AI politika, Registr AI systémů, Transparenční stránka — vše v Compliance Kitu</a:t>
            </a:r>
          </a:p>
          <a:p>
            <a:pPr>
              <a:spcAft>
                <a:spcPts val="800"/>
              </a:spcAft>
              <a:defRPr sz="1400">
                <a:solidFill>
                  <a:srgbClr val="F1F5F9"/>
                </a:solidFill>
                <a:latin typeface="Calibri"/>
              </a:defRPr>
            </a:pPr>
            <a:r>
              <a:t>• Termín plné účinnosti pro high-risk systémy: 2. srpna 2026 — zbývá 5 měsíců</a:t>
            </a:r>
          </a:p>
        </p:txBody>
      </p:sp>
      <p:sp>
        <p:nvSpPr>
          <p:cNvPr id="7" name="TextBox 6"/>
          <p:cNvSpPr txBox="1"/>
          <p:nvPr/>
        </p:nvSpPr>
        <p:spPr>
          <a:xfrm>
            <a:off x="457200" y="6309360"/>
            <a:ext cx="10972800" cy="365760"/>
          </a:xfrm>
          <a:prstGeom prst="rect">
            <a:avLst/>
          </a:prstGeom>
          <a:noFill/>
        </p:spPr>
        <p:txBody>
          <a:bodyPr wrap="square">
            <a:spAutoFit/>
          </a:bodyPr>
          <a:lstStyle/>
          <a:p>
            <a:pPr algn="ctr">
              <a:defRPr sz="900" b="0">
                <a:solidFill>
                  <a:srgbClr val="94A3B8"/>
                </a:solidFill>
                <a:latin typeface="Calibri"/>
              </a:defRPr>
            </a:pPr>
            <a:r>
              <a:t>Martin Haynes  •  Martin Haynes  •  info@desperados-design.cz</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371600"/>
            <a:ext cx="8229600" cy="914400"/>
          </a:xfrm>
          <a:prstGeom prst="rect">
            <a:avLst/>
          </a:prstGeom>
          <a:noFill/>
        </p:spPr>
        <p:txBody>
          <a:bodyPr wrap="square">
            <a:spAutoFit/>
          </a:bodyPr>
          <a:lstStyle/>
          <a:p>
            <a:pPr algn="ctr">
              <a:defRPr sz="3600" b="1">
                <a:solidFill>
                  <a:srgbClr val="E879F9"/>
                </a:solidFill>
                <a:latin typeface="Calibri"/>
              </a:defRPr>
            </a:pPr>
            <a:r>
              <a:t>AIshield.cz</a:t>
            </a:r>
          </a:p>
        </p:txBody>
      </p:sp>
      <p:sp>
        <p:nvSpPr>
          <p:cNvPr id="3" name="TextBox 2"/>
          <p:cNvSpPr txBox="1"/>
          <p:nvPr/>
        </p:nvSpPr>
        <p:spPr>
          <a:xfrm>
            <a:off x="1371600" y="2743200"/>
            <a:ext cx="9144000" cy="2286000"/>
          </a:xfrm>
          <a:prstGeom prst="rect">
            <a:avLst/>
          </a:prstGeom>
          <a:noFill/>
        </p:spPr>
        <p:txBody>
          <a:bodyPr wrap="square">
            <a:spAutoFit/>
          </a:bodyPr>
          <a:lstStyle/>
          <a:p>
            <a:pPr algn="ctr">
              <a:defRPr sz="1400" b="0">
                <a:solidFill>
                  <a:srgbClr val="94A3B8"/>
                </a:solidFill>
                <a:latin typeface="Calibri"/>
              </a:defRPr>
            </a:pPr>
            <a:r>
              <a:t>Dokumenty vygenerované platformou AIshield.cz jsou vytvořeny na základě automatizované analýzy a informací poskytnutých klientem.</a:t>
            </a:r>
            <a:br/>
            <a:br/>
            <a:r>
              <a:t>AIshield.cz poskytuje compliance dokumentaci jako technickou pomůcku pro splnění požadavků Nařízení (EU) 2024/1689 (AI Act), nikoliv jako právní poradenství ve smyslu zák. č. 85/1996 Sb.</a:t>
            </a:r>
            <a:br/>
            <a:br/>
            <a:r>
              <a:t>info@aishield.cz  •  +420 732 716 141  •  Martin Haynes, IČO: 17889251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